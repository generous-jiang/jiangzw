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274320"/>
            <a:ext cx="82296" cy="365760"/>
          </a:xfrm>
          <a:prstGeom prst="rect">
            <a:avLst/>
          </a:prstGeom>
          <a:solidFill>
            <a:srgbClr val="D7382E"/>
          </a:solidFill>
          <a:ln/>
        </p:spPr>
      </p:sp>
      <p:sp>
        <p:nvSpPr>
          <p:cNvPr id="3" name="Text 1"/>
          <p:cNvSpPr/>
          <p:nvPr/>
        </p:nvSpPr>
        <p:spPr>
          <a:xfrm>
            <a:off x="475488" y="237744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全渠道仓库自动化接入 WCS · 产品方案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75488" y="676656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9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Flux WMS 与 WHC 自动化任务编排在上，自研 WCS 以标准指令集统一下发、按能力分层调度自动化设备；上下行交互均经 WCS 贯通衔接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10896" y="9326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 · 多 WMS / WHC 系统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10896" y="1097280"/>
            <a:ext cx="2181758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DD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1097280"/>
            <a:ext cx="21817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DC Flux WMS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7246" y="1097280"/>
            <a:ext cx="2181758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DD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7246" y="1097280"/>
            <a:ext cx="21817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FC Flux WMS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03597" y="1097280"/>
            <a:ext cx="2181758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DD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3597" y="1097280"/>
            <a:ext cx="21817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City DC WMS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49947" y="1097280"/>
            <a:ext cx="2181758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DD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49947" y="1097280"/>
            <a:ext cx="21817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 WMS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696298" y="1097280"/>
            <a:ext cx="2181758" cy="420624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DD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6298" y="1097280"/>
            <a:ext cx="21817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云仓 WMS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0896" y="1554480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 平台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645920" y="1554480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标准指令双向交互：下行指令 / 上行状态，统一经 WCS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155448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9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看板平台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401775" y="1700784"/>
            <a:ext cx="0" cy="100584"/>
          </a:xfrm>
          <a:prstGeom prst="line">
            <a:avLst/>
          </a:prstGeom>
          <a:noFill/>
          <a:ln w="12700">
            <a:solidFill>
              <a:srgbClr val="27628D"/>
            </a:solidFill>
            <a:prstDash val="solid"/>
            <a:headEnd type="triangl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748126" y="1700784"/>
            <a:ext cx="0" cy="100584"/>
          </a:xfrm>
          <a:prstGeom prst="line">
            <a:avLst/>
          </a:prstGeom>
          <a:noFill/>
          <a:ln w="12700">
            <a:solidFill>
              <a:srgbClr val="27628D"/>
            </a:solidFill>
            <a:prstDash val="solid"/>
            <a:headEnd type="triangl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094476" y="1700784"/>
            <a:ext cx="0" cy="100584"/>
          </a:xfrm>
          <a:prstGeom prst="line">
            <a:avLst/>
          </a:prstGeom>
          <a:noFill/>
          <a:ln w="12700">
            <a:solidFill>
              <a:srgbClr val="27628D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440826" y="1700784"/>
            <a:ext cx="0" cy="100584"/>
          </a:xfrm>
          <a:prstGeom prst="line">
            <a:avLst/>
          </a:prstGeom>
          <a:noFill/>
          <a:ln w="12700">
            <a:solidFill>
              <a:srgbClr val="27628D"/>
            </a:solidFill>
            <a:prstDash val="solid"/>
            <a:headEnd type="triangl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787177" y="1700784"/>
            <a:ext cx="0" cy="100584"/>
          </a:xfrm>
          <a:prstGeom prst="line">
            <a:avLst/>
          </a:prstGeom>
          <a:noFill/>
          <a:ln w="12700">
            <a:solidFill>
              <a:srgbClr val="27628D"/>
            </a:solidFill>
            <a:prstDash val="solid"/>
            <a:headEnd type="triangl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10896" y="1810512"/>
            <a:ext cx="7589520" cy="2871216"/>
          </a:xfrm>
          <a:prstGeom prst="roundRect">
            <a:avLst>
              <a:gd name="adj" fmla="val 1911"/>
            </a:avLst>
          </a:prstGeom>
          <a:solidFill>
            <a:srgbClr val="FFFFFF"/>
          </a:solidFill>
          <a:ln w="12700">
            <a:solidFill>
              <a:srgbClr val="AAC2D6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8065008" y="1810512"/>
            <a:ext cx="3813048" cy="2871216"/>
          </a:xfrm>
          <a:prstGeom prst="roundRect">
            <a:avLst>
              <a:gd name="adj" fmla="val 1911"/>
            </a:avLst>
          </a:prstGeom>
          <a:solidFill>
            <a:srgbClr val="FFFFFF"/>
          </a:solidFill>
          <a:ln w="12700">
            <a:solidFill>
              <a:srgbClr val="AAC2D6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57200" y="1883664"/>
            <a:ext cx="7296912" cy="438912"/>
          </a:xfrm>
          <a:prstGeom prst="roundRect">
            <a:avLst>
              <a:gd name="adj" fmla="val 10417"/>
            </a:avLst>
          </a:prstGeom>
          <a:solidFill>
            <a:srgbClr val="27628D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1938528"/>
            <a:ext cx="7296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 · 仓储自动化统一调度引擎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2157984"/>
            <a:ext cx="7296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FE0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标准指令协议 · 版本化管理 · 幂等重试 · 灰度发布 · 限流降级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23957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62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 </a:t>
            </a:r>
            <a:pPr algn="l" indent="0" marL="0">
              <a:buNone/>
            </a:pPr>
            <a:r>
              <a:rPr lang="en-US" sz="1000" b="1" dirty="0">
                <a:solidFill>
                  <a:srgbClr val="334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统一调度层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10912" y="23957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A9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2578608"/>
            <a:ext cx="1139952" cy="384048"/>
          </a:xfrm>
          <a:prstGeom prst="roundRect">
            <a:avLst>
              <a:gd name="adj" fmla="val 7143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624328"/>
            <a:ext cx="113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任务编排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2761488"/>
            <a:ext cx="1139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多任务并行</a:t>
            </a:r>
            <a:endParaRPr lang="en-US" sz="730" dirty="0"/>
          </a:p>
        </p:txBody>
      </p:sp>
      <p:sp>
        <p:nvSpPr>
          <p:cNvPr id="34" name="Shape 32"/>
          <p:cNvSpPr/>
          <p:nvPr/>
        </p:nvSpPr>
        <p:spPr>
          <a:xfrm>
            <a:off x="1688592" y="2578608"/>
            <a:ext cx="1139952" cy="384048"/>
          </a:xfrm>
          <a:prstGeom prst="roundRect">
            <a:avLst>
              <a:gd name="adj" fmla="val 7143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88592" y="2624328"/>
            <a:ext cx="113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优先级调度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688592" y="2761488"/>
            <a:ext cx="1139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 分级</a:t>
            </a:r>
            <a:endParaRPr lang="en-US" sz="730" dirty="0"/>
          </a:p>
        </p:txBody>
      </p:sp>
      <p:sp>
        <p:nvSpPr>
          <p:cNvPr id="37" name="Shape 35"/>
          <p:cNvSpPr/>
          <p:nvPr/>
        </p:nvSpPr>
        <p:spPr>
          <a:xfrm>
            <a:off x="2919984" y="2578608"/>
            <a:ext cx="1139952" cy="384048"/>
          </a:xfrm>
          <a:prstGeom prst="roundRect">
            <a:avLst>
              <a:gd name="adj" fmla="val 7143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19984" y="2624328"/>
            <a:ext cx="113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路由分配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919984" y="2761488"/>
            <a:ext cx="1139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最优匹配</a:t>
            </a:r>
            <a:endParaRPr lang="en-US" sz="730" dirty="0"/>
          </a:p>
        </p:txBody>
      </p:sp>
      <p:sp>
        <p:nvSpPr>
          <p:cNvPr id="40" name="Shape 38"/>
          <p:cNvSpPr/>
          <p:nvPr/>
        </p:nvSpPr>
        <p:spPr>
          <a:xfrm>
            <a:off x="4151376" y="2578608"/>
            <a:ext cx="1139952" cy="384048"/>
          </a:xfrm>
          <a:prstGeom prst="roundRect">
            <a:avLst>
              <a:gd name="adj" fmla="val 7143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51376" y="2624328"/>
            <a:ext cx="113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限流降级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151376" y="2761488"/>
            <a:ext cx="1139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峰值保护</a:t>
            </a:r>
            <a:endParaRPr lang="en-US" sz="730" dirty="0"/>
          </a:p>
        </p:txBody>
      </p:sp>
      <p:sp>
        <p:nvSpPr>
          <p:cNvPr id="43" name="Shape 41"/>
          <p:cNvSpPr/>
          <p:nvPr/>
        </p:nvSpPr>
        <p:spPr>
          <a:xfrm>
            <a:off x="5382768" y="2578608"/>
            <a:ext cx="1139952" cy="384048"/>
          </a:xfrm>
          <a:prstGeom prst="roundRect">
            <a:avLst>
              <a:gd name="adj" fmla="val 7143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82768" y="2624328"/>
            <a:ext cx="113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异常熔断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82768" y="2761488"/>
            <a:ext cx="1139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失败重试</a:t>
            </a:r>
            <a:endParaRPr lang="en-US" sz="730" dirty="0"/>
          </a:p>
        </p:txBody>
      </p:sp>
      <p:sp>
        <p:nvSpPr>
          <p:cNvPr id="46" name="Shape 44"/>
          <p:cNvSpPr/>
          <p:nvPr/>
        </p:nvSpPr>
        <p:spPr>
          <a:xfrm>
            <a:off x="6614160" y="2578608"/>
            <a:ext cx="1139952" cy="384048"/>
          </a:xfrm>
          <a:prstGeom prst="roundRect">
            <a:avLst>
              <a:gd name="adj" fmla="val 7143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14160" y="2624328"/>
            <a:ext cx="113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执行监控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614160" y="2761488"/>
            <a:ext cx="1139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时效预警</a:t>
            </a:r>
            <a:endParaRPr lang="en-US" sz="730" dirty="0"/>
          </a:p>
        </p:txBody>
      </p:sp>
      <p:sp>
        <p:nvSpPr>
          <p:cNvPr id="49" name="Text 47"/>
          <p:cNvSpPr/>
          <p:nvPr/>
        </p:nvSpPr>
        <p:spPr>
          <a:xfrm>
            <a:off x="457200" y="301752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62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 </a:t>
            </a:r>
            <a:pPr algn="l" indent="0" marL="0">
              <a:buNone/>
            </a:pPr>
            <a:r>
              <a:rPr lang="en-US" sz="1000" b="1" dirty="0">
                <a:solidFill>
                  <a:srgbClr val="334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标准指令集（核心）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010912" y="3017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A9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Instruction Set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57200" y="3200400"/>
            <a:ext cx="1139952" cy="347472"/>
          </a:xfrm>
          <a:prstGeom prst="roundRect">
            <a:avLst>
              <a:gd name="adj" fmla="val 7895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3246120"/>
            <a:ext cx="113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商品信息指令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7200" y="3346704"/>
            <a:ext cx="1139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 · 修改</a:t>
            </a:r>
            <a:endParaRPr lang="en-US" sz="730" dirty="0"/>
          </a:p>
        </p:txBody>
      </p:sp>
      <p:sp>
        <p:nvSpPr>
          <p:cNvPr id="54" name="Shape 52"/>
          <p:cNvSpPr/>
          <p:nvPr/>
        </p:nvSpPr>
        <p:spPr>
          <a:xfrm>
            <a:off x="1688592" y="3200400"/>
            <a:ext cx="1139952" cy="347472"/>
          </a:xfrm>
          <a:prstGeom prst="roundRect">
            <a:avLst>
              <a:gd name="adj" fmla="val 7895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688592" y="3246120"/>
            <a:ext cx="113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收货指令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688592" y="3346704"/>
            <a:ext cx="1139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DWS 称重 · 提码</a:t>
            </a:r>
            <a:endParaRPr lang="en-US" sz="730" dirty="0"/>
          </a:p>
        </p:txBody>
      </p:sp>
      <p:sp>
        <p:nvSpPr>
          <p:cNvPr id="57" name="Shape 55"/>
          <p:cNvSpPr/>
          <p:nvPr/>
        </p:nvSpPr>
        <p:spPr>
          <a:xfrm>
            <a:off x="2919984" y="3200400"/>
            <a:ext cx="1139952" cy="347472"/>
          </a:xfrm>
          <a:prstGeom prst="roundRect">
            <a:avLst>
              <a:gd name="adj" fmla="val 7895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919984" y="3246120"/>
            <a:ext cx="113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上架指令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919984" y="3346704"/>
            <a:ext cx="1139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 · 返回库位</a:t>
            </a:r>
            <a:endParaRPr lang="en-US" sz="730" dirty="0"/>
          </a:p>
        </p:txBody>
      </p:sp>
      <p:sp>
        <p:nvSpPr>
          <p:cNvPr id="60" name="Shape 58"/>
          <p:cNvSpPr/>
          <p:nvPr/>
        </p:nvSpPr>
        <p:spPr>
          <a:xfrm>
            <a:off x="4151376" y="3200400"/>
            <a:ext cx="1139952" cy="347472"/>
          </a:xfrm>
          <a:prstGeom prst="roundRect">
            <a:avLst>
              <a:gd name="adj" fmla="val 7895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51376" y="3246120"/>
            <a:ext cx="113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盘点指令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151376" y="3346704"/>
            <a:ext cx="1139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RFID · 物理盘</a:t>
            </a:r>
            <a:endParaRPr lang="en-US" sz="730" dirty="0"/>
          </a:p>
        </p:txBody>
      </p:sp>
      <p:sp>
        <p:nvSpPr>
          <p:cNvPr id="63" name="Shape 61"/>
          <p:cNvSpPr/>
          <p:nvPr/>
        </p:nvSpPr>
        <p:spPr>
          <a:xfrm>
            <a:off x="5382768" y="3200400"/>
            <a:ext cx="1139952" cy="347472"/>
          </a:xfrm>
          <a:prstGeom prst="roundRect">
            <a:avLst>
              <a:gd name="adj" fmla="val 7895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82768" y="3246120"/>
            <a:ext cx="113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移库指令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382768" y="3346704"/>
            <a:ext cx="1139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 · 返回库位</a:t>
            </a:r>
            <a:endParaRPr lang="en-US" sz="730" dirty="0"/>
          </a:p>
        </p:txBody>
      </p:sp>
      <p:sp>
        <p:nvSpPr>
          <p:cNvPr id="66" name="Shape 64"/>
          <p:cNvSpPr/>
          <p:nvPr/>
        </p:nvSpPr>
        <p:spPr>
          <a:xfrm>
            <a:off x="6614160" y="3200400"/>
            <a:ext cx="1139952" cy="347472"/>
          </a:xfrm>
          <a:prstGeom prst="roundRect">
            <a:avLst>
              <a:gd name="adj" fmla="val 7895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614160" y="3246120"/>
            <a:ext cx="113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监控预警指令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614160" y="3346704"/>
            <a:ext cx="1139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过程跟踪</a:t>
            </a:r>
            <a:endParaRPr lang="en-US" sz="730" dirty="0"/>
          </a:p>
        </p:txBody>
      </p:sp>
      <p:sp>
        <p:nvSpPr>
          <p:cNvPr id="69" name="Shape 67"/>
          <p:cNvSpPr/>
          <p:nvPr/>
        </p:nvSpPr>
        <p:spPr>
          <a:xfrm>
            <a:off x="457200" y="3566160"/>
            <a:ext cx="1139952" cy="347472"/>
          </a:xfrm>
          <a:prstGeom prst="roundRect">
            <a:avLst>
              <a:gd name="adj" fmla="val 7895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7200" y="3611880"/>
            <a:ext cx="113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容器信息指令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457200" y="3712464"/>
            <a:ext cx="1139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容器绑定 · 解绑</a:t>
            </a:r>
            <a:endParaRPr lang="en-US" sz="730" dirty="0"/>
          </a:p>
        </p:txBody>
      </p:sp>
      <p:sp>
        <p:nvSpPr>
          <p:cNvPr id="72" name="Shape 70"/>
          <p:cNvSpPr/>
          <p:nvPr/>
        </p:nvSpPr>
        <p:spPr>
          <a:xfrm>
            <a:off x="1688592" y="3566160"/>
            <a:ext cx="1139952" cy="347472"/>
          </a:xfrm>
          <a:prstGeom prst="roundRect">
            <a:avLst>
              <a:gd name="adj" fmla="val 7895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688592" y="3611880"/>
            <a:ext cx="113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波次指令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1688592" y="3712464"/>
            <a:ext cx="1139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波次锁号 · 产能</a:t>
            </a:r>
            <a:endParaRPr lang="en-US" sz="730" dirty="0"/>
          </a:p>
        </p:txBody>
      </p:sp>
      <p:sp>
        <p:nvSpPr>
          <p:cNvPr id="75" name="Shape 73"/>
          <p:cNvSpPr/>
          <p:nvPr/>
        </p:nvSpPr>
        <p:spPr>
          <a:xfrm>
            <a:off x="2919984" y="3566160"/>
            <a:ext cx="1139952" cy="347472"/>
          </a:xfrm>
          <a:prstGeom prst="roundRect">
            <a:avLst>
              <a:gd name="adj" fmla="val 7895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919984" y="3611880"/>
            <a:ext cx="113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拣货指令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2919984" y="3712464"/>
            <a:ext cx="1139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货架/货位/托盘到人</a:t>
            </a:r>
            <a:endParaRPr lang="en-US" sz="730" dirty="0"/>
          </a:p>
        </p:txBody>
      </p:sp>
      <p:sp>
        <p:nvSpPr>
          <p:cNvPr id="78" name="Shape 76"/>
          <p:cNvSpPr/>
          <p:nvPr/>
        </p:nvSpPr>
        <p:spPr>
          <a:xfrm>
            <a:off x="4151376" y="3566160"/>
            <a:ext cx="1139952" cy="347472"/>
          </a:xfrm>
          <a:prstGeom prst="roundRect">
            <a:avLst>
              <a:gd name="adj" fmla="val 7895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151376" y="3611880"/>
            <a:ext cx="113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分播指令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4151376" y="3712464"/>
            <a:ext cx="1139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格口/订单/门店</a:t>
            </a:r>
            <a:endParaRPr lang="en-US" sz="730" dirty="0"/>
          </a:p>
        </p:txBody>
      </p:sp>
      <p:sp>
        <p:nvSpPr>
          <p:cNvPr id="81" name="Shape 79"/>
          <p:cNvSpPr/>
          <p:nvPr/>
        </p:nvSpPr>
        <p:spPr>
          <a:xfrm>
            <a:off x="5382768" y="3566160"/>
            <a:ext cx="1139952" cy="347472"/>
          </a:xfrm>
          <a:prstGeom prst="roundRect">
            <a:avLst>
              <a:gd name="adj" fmla="val 7895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382768" y="3611880"/>
            <a:ext cx="113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对账指令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5382768" y="3712464"/>
            <a:ext cx="1139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 · 返回库位</a:t>
            </a:r>
            <a:endParaRPr lang="en-US" sz="730" dirty="0"/>
          </a:p>
        </p:txBody>
      </p:sp>
      <p:sp>
        <p:nvSpPr>
          <p:cNvPr id="84" name="Shape 82"/>
          <p:cNvSpPr/>
          <p:nvPr/>
        </p:nvSpPr>
        <p:spPr>
          <a:xfrm>
            <a:off x="6614160" y="3566160"/>
            <a:ext cx="1139952" cy="347472"/>
          </a:xfrm>
          <a:prstGeom prst="roundRect">
            <a:avLst>
              <a:gd name="adj" fmla="val 7895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614160" y="3611880"/>
            <a:ext cx="1139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任务单看板指令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614160" y="3712464"/>
            <a:ext cx="1139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数据回传</a:t>
            </a:r>
            <a:endParaRPr lang="en-US" sz="730" dirty="0"/>
          </a:p>
        </p:txBody>
      </p:sp>
      <p:sp>
        <p:nvSpPr>
          <p:cNvPr id="87" name="Text 85"/>
          <p:cNvSpPr/>
          <p:nvPr/>
        </p:nvSpPr>
        <p:spPr>
          <a:xfrm>
            <a:off x="457200" y="398678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62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 </a:t>
            </a:r>
            <a:pPr algn="l" indent="0" marL="0">
              <a:buNone/>
            </a:pPr>
            <a:r>
              <a:rPr lang="en-US" sz="1000" b="1" dirty="0">
                <a:solidFill>
                  <a:srgbClr val="334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设备能力适配层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5010912" y="39867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A9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Adapter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457200" y="4169664"/>
            <a:ext cx="1386230" cy="384048"/>
          </a:xfrm>
          <a:prstGeom prst="roundRect">
            <a:avLst>
              <a:gd name="adj" fmla="val 7143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57200" y="4215384"/>
            <a:ext cx="13862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货架到人适配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457200" y="4352544"/>
            <a:ext cx="13862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PopPick 类</a:t>
            </a:r>
            <a:endParaRPr lang="en-US" sz="730" dirty="0"/>
          </a:p>
        </p:txBody>
      </p:sp>
      <p:sp>
        <p:nvSpPr>
          <p:cNvPr id="92" name="Shape 90"/>
          <p:cNvSpPr/>
          <p:nvPr/>
        </p:nvSpPr>
        <p:spPr>
          <a:xfrm>
            <a:off x="1934870" y="4169664"/>
            <a:ext cx="1386230" cy="384048"/>
          </a:xfrm>
          <a:prstGeom prst="roundRect">
            <a:avLst>
              <a:gd name="adj" fmla="val 7143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934870" y="4215384"/>
            <a:ext cx="13862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料箱到人适配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1934870" y="4352544"/>
            <a:ext cx="13862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Shuttle 类</a:t>
            </a:r>
            <a:endParaRPr lang="en-US" sz="730" dirty="0"/>
          </a:p>
        </p:txBody>
      </p:sp>
      <p:sp>
        <p:nvSpPr>
          <p:cNvPr id="95" name="Shape 93"/>
          <p:cNvSpPr/>
          <p:nvPr/>
        </p:nvSpPr>
        <p:spPr>
          <a:xfrm>
            <a:off x="3412541" y="4169664"/>
            <a:ext cx="1386230" cy="384048"/>
          </a:xfrm>
          <a:prstGeom prst="roundRect">
            <a:avLst>
              <a:gd name="adj" fmla="val 7143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412541" y="4215384"/>
            <a:ext cx="13862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托盘到人适配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3412541" y="4352544"/>
            <a:ext cx="13862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高位密存类</a:t>
            </a:r>
            <a:endParaRPr lang="en-US" sz="730" dirty="0"/>
          </a:p>
        </p:txBody>
      </p:sp>
      <p:sp>
        <p:nvSpPr>
          <p:cNvPr id="98" name="Shape 96"/>
          <p:cNvSpPr/>
          <p:nvPr/>
        </p:nvSpPr>
        <p:spPr>
          <a:xfrm>
            <a:off x="4890211" y="4169664"/>
            <a:ext cx="1386230" cy="384048"/>
          </a:xfrm>
          <a:prstGeom prst="roundRect">
            <a:avLst>
              <a:gd name="adj" fmla="val 7143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890211" y="4215384"/>
            <a:ext cx="13862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分拣机器人适配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4890211" y="4352544"/>
            <a:ext cx="13862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柔性分拣类</a:t>
            </a:r>
            <a:endParaRPr lang="en-US" sz="730" dirty="0"/>
          </a:p>
        </p:txBody>
      </p:sp>
      <p:sp>
        <p:nvSpPr>
          <p:cNvPr id="101" name="Shape 99"/>
          <p:cNvSpPr/>
          <p:nvPr/>
        </p:nvSpPr>
        <p:spPr>
          <a:xfrm>
            <a:off x="6367882" y="4169664"/>
            <a:ext cx="1386230" cy="384048"/>
          </a:xfrm>
          <a:prstGeom prst="roundRect">
            <a:avLst>
              <a:gd name="adj" fmla="val 7143"/>
            </a:avLst>
          </a:prstGeom>
          <a:solidFill>
            <a:srgbClr val="FBFCFD"/>
          </a:solidFill>
          <a:ln w="7620">
            <a:solidFill>
              <a:srgbClr val="D7DDE4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367882" y="4215384"/>
            <a:ext cx="13862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通用设备适配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67882" y="4352544"/>
            <a:ext cx="13862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AGV/RGV/输送线·机器人</a:t>
            </a:r>
            <a:endParaRPr lang="en-US" sz="730" dirty="0"/>
          </a:p>
        </p:txBody>
      </p:sp>
      <p:sp>
        <p:nvSpPr>
          <p:cNvPr id="104" name="Text 102"/>
          <p:cNvSpPr/>
          <p:nvPr/>
        </p:nvSpPr>
        <p:spPr>
          <a:xfrm>
            <a:off x="8247888" y="1938528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可视化平台</a:t>
            </a:r>
            <a:endParaRPr lang="en-US" sz="1300" dirty="0"/>
          </a:p>
        </p:txBody>
      </p:sp>
      <p:sp>
        <p:nvSpPr>
          <p:cNvPr id="105" name="Text 103"/>
          <p:cNvSpPr/>
          <p:nvPr/>
        </p:nvSpPr>
        <p:spPr>
          <a:xfrm>
            <a:off x="8247888" y="2359152"/>
            <a:ext cx="3447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全仓任务看板</a:t>
            </a:r>
            <a:endParaRPr lang="en-US" sz="1050" dirty="0"/>
          </a:p>
        </p:txBody>
      </p:sp>
      <p:sp>
        <p:nvSpPr>
          <p:cNvPr id="106" name="Text 104"/>
          <p:cNvSpPr/>
          <p:nvPr/>
        </p:nvSpPr>
        <p:spPr>
          <a:xfrm>
            <a:off x="8247888" y="2542032"/>
            <a:ext cx="3447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全仓任务 · 看板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8247888" y="2816352"/>
            <a:ext cx="3447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自动化区域监控</a:t>
            </a:r>
            <a:endParaRPr lang="en-US" sz="1050" dirty="0"/>
          </a:p>
        </p:txBody>
      </p:sp>
      <p:sp>
        <p:nvSpPr>
          <p:cNvPr id="108" name="Text 106"/>
          <p:cNvSpPr/>
          <p:nvPr/>
        </p:nvSpPr>
        <p:spPr>
          <a:xfrm>
            <a:off x="8247888" y="2999232"/>
            <a:ext cx="3447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自动化区任务监控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8247888" y="3273552"/>
            <a:ext cx="3447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指令执行看板</a:t>
            </a:r>
            <a:endParaRPr lang="en-US" sz="1050" dirty="0"/>
          </a:p>
        </p:txBody>
      </p:sp>
      <p:sp>
        <p:nvSpPr>
          <p:cNvPr id="110" name="Text 108"/>
          <p:cNvSpPr/>
          <p:nvPr/>
        </p:nvSpPr>
        <p:spPr>
          <a:xfrm>
            <a:off x="8247888" y="3456432"/>
            <a:ext cx="3447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指令时效 · 成功率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8247888" y="3730752"/>
            <a:ext cx="3447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异常工单看板</a:t>
            </a:r>
            <a:endParaRPr lang="en-US" sz="1050" dirty="0"/>
          </a:p>
        </p:txBody>
      </p:sp>
      <p:sp>
        <p:nvSpPr>
          <p:cNvPr id="112" name="Text 110"/>
          <p:cNvSpPr/>
          <p:nvPr/>
        </p:nvSpPr>
        <p:spPr>
          <a:xfrm>
            <a:off x="8247888" y="3913632"/>
            <a:ext cx="3447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 / 重试 / 告警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8247888" y="4187952"/>
            <a:ext cx="3447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44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</a:t>
            </a:r>
            <a:endParaRPr lang="en-US" sz="1050" dirty="0"/>
          </a:p>
        </p:txBody>
      </p:sp>
      <p:sp>
        <p:nvSpPr>
          <p:cNvPr id="114" name="Text 112"/>
          <p:cNvSpPr/>
          <p:nvPr/>
        </p:nvSpPr>
        <p:spPr>
          <a:xfrm>
            <a:off x="8247888" y="4370832"/>
            <a:ext cx="3447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仓内全要素映射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310896" y="4736592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7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 · 自动化供应商系统（按能力适配接入，可扩展）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6400800" y="4736592"/>
            <a:ext cx="5477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标准指令下发 · 执行状态上报，统一经 WCS 适配对接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1401775" y="4901184"/>
            <a:ext cx="0" cy="109728"/>
          </a:xfrm>
          <a:prstGeom prst="line">
            <a:avLst/>
          </a:prstGeom>
          <a:noFill/>
          <a:ln w="12700">
            <a:solidFill>
              <a:srgbClr val="27628D"/>
            </a:solidFill>
            <a:prstDash val="solid"/>
            <a:headEnd type="triangle"/>
            <a:tailEnd type="triangle"/>
          </a:ln>
        </p:spPr>
      </p:sp>
      <p:sp>
        <p:nvSpPr>
          <p:cNvPr id="118" name="Shape 116"/>
          <p:cNvSpPr/>
          <p:nvPr/>
        </p:nvSpPr>
        <p:spPr>
          <a:xfrm>
            <a:off x="3748126" y="4901184"/>
            <a:ext cx="0" cy="109728"/>
          </a:xfrm>
          <a:prstGeom prst="line">
            <a:avLst/>
          </a:prstGeom>
          <a:noFill/>
          <a:ln w="12700">
            <a:solidFill>
              <a:srgbClr val="27628D"/>
            </a:solidFill>
            <a:prstDash val="solid"/>
            <a:headEnd type="triangle"/>
            <a:tailEnd type="triangle"/>
          </a:ln>
        </p:spPr>
      </p:sp>
      <p:sp>
        <p:nvSpPr>
          <p:cNvPr id="119" name="Shape 117"/>
          <p:cNvSpPr/>
          <p:nvPr/>
        </p:nvSpPr>
        <p:spPr>
          <a:xfrm>
            <a:off x="6094476" y="4901184"/>
            <a:ext cx="0" cy="109728"/>
          </a:xfrm>
          <a:prstGeom prst="line">
            <a:avLst/>
          </a:prstGeom>
          <a:noFill/>
          <a:ln w="12700">
            <a:solidFill>
              <a:srgbClr val="27628D"/>
            </a:solidFill>
            <a:prstDash val="solid"/>
            <a:headEnd type="triangle"/>
            <a:tailEnd type="triangle"/>
          </a:ln>
        </p:spPr>
      </p:sp>
      <p:sp>
        <p:nvSpPr>
          <p:cNvPr id="120" name="Shape 118"/>
          <p:cNvSpPr/>
          <p:nvPr/>
        </p:nvSpPr>
        <p:spPr>
          <a:xfrm>
            <a:off x="8440826" y="4901184"/>
            <a:ext cx="0" cy="109728"/>
          </a:xfrm>
          <a:prstGeom prst="line">
            <a:avLst/>
          </a:prstGeom>
          <a:noFill/>
          <a:ln w="12700">
            <a:solidFill>
              <a:srgbClr val="27628D"/>
            </a:solidFill>
            <a:prstDash val="solid"/>
            <a:headEnd type="triangle"/>
            <a:tailEnd type="triangle"/>
          </a:ln>
        </p:spPr>
      </p:sp>
      <p:sp>
        <p:nvSpPr>
          <p:cNvPr id="121" name="Shape 119"/>
          <p:cNvSpPr/>
          <p:nvPr/>
        </p:nvSpPr>
        <p:spPr>
          <a:xfrm>
            <a:off x="10787177" y="4901184"/>
            <a:ext cx="0" cy="109728"/>
          </a:xfrm>
          <a:prstGeom prst="line">
            <a:avLst/>
          </a:prstGeom>
          <a:noFill/>
          <a:ln w="12700">
            <a:solidFill>
              <a:srgbClr val="27628D"/>
            </a:solidFill>
            <a:prstDash val="solid"/>
            <a:headEnd type="triangle"/>
            <a:tailEnd type="triangle"/>
          </a:ln>
        </p:spPr>
      </p:sp>
      <p:sp>
        <p:nvSpPr>
          <p:cNvPr id="122" name="Shape 120"/>
          <p:cNvSpPr/>
          <p:nvPr/>
        </p:nvSpPr>
        <p:spPr>
          <a:xfrm>
            <a:off x="310896" y="5047488"/>
            <a:ext cx="2181758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DDE4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310896" y="5120640"/>
            <a:ext cx="21817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WCS1 · 货架到人</a:t>
            </a:r>
            <a:endParaRPr lang="en-US" sz="1050" dirty="0"/>
          </a:p>
        </p:txBody>
      </p:sp>
      <p:sp>
        <p:nvSpPr>
          <p:cNvPr id="124" name="Text 122"/>
          <p:cNvSpPr/>
          <p:nvPr/>
        </p:nvSpPr>
        <p:spPr>
          <a:xfrm>
            <a:off x="310896" y="5330952"/>
            <a:ext cx="21817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PopPick · 全品类订单行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2657246" y="5047488"/>
            <a:ext cx="2181758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DDE4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2657246" y="5120640"/>
            <a:ext cx="21817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WCS2 · 料箱到人</a:t>
            </a:r>
            <a:endParaRPr lang="en-US" sz="1050" dirty="0"/>
          </a:p>
        </p:txBody>
      </p:sp>
      <p:sp>
        <p:nvSpPr>
          <p:cNvPr id="127" name="Text 125"/>
          <p:cNvSpPr/>
          <p:nvPr/>
        </p:nvSpPr>
        <p:spPr>
          <a:xfrm>
            <a:off x="2657246" y="5330952"/>
            <a:ext cx="21817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RoboShuttle · 高密度垂直存储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5003597" y="5047488"/>
            <a:ext cx="2181758" cy="512064"/>
          </a:xfrm>
          <a:prstGeom prst="roundRect">
            <a:avLst>
              <a:gd name="adj" fmla="val 7143"/>
            </a:avLst>
          </a:prstGeom>
          <a:solidFill>
            <a:srgbClr val="FCF3F2"/>
          </a:solidFill>
          <a:ln w="13970">
            <a:solidFill>
              <a:srgbClr val="D7382E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5003597" y="5120640"/>
            <a:ext cx="21817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WCS3 · 料箱到人</a:t>
            </a:r>
            <a:endParaRPr lang="en-US" sz="1050" dirty="0"/>
          </a:p>
        </p:txBody>
      </p:sp>
      <p:sp>
        <p:nvSpPr>
          <p:cNvPr id="130" name="Text 128"/>
          <p:cNvSpPr/>
          <p:nvPr/>
        </p:nvSpPr>
        <p:spPr>
          <a:xfrm>
            <a:off x="5003597" y="5330952"/>
            <a:ext cx="21817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73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闪攀（海柔）· 高效拣选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7349947" y="5047488"/>
            <a:ext cx="2181758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DDE4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7349947" y="5120640"/>
            <a:ext cx="21817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WCS4 · 托盘到人</a:t>
            </a:r>
            <a:endParaRPr lang="en-US" sz="1050" dirty="0"/>
          </a:p>
        </p:txBody>
      </p:sp>
      <p:sp>
        <p:nvSpPr>
          <p:cNvPr id="133" name="Text 131"/>
          <p:cNvSpPr/>
          <p:nvPr/>
        </p:nvSpPr>
        <p:spPr>
          <a:xfrm>
            <a:off x="7349947" y="5330952"/>
            <a:ext cx="21817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上架/下架 · 高密度存储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9696298" y="5047488"/>
            <a:ext cx="2181758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DDE4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9696298" y="5120640"/>
            <a:ext cx="21817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WCS N · 分拣机器人</a:t>
            </a:r>
            <a:endParaRPr lang="en-US" sz="1050" dirty="0"/>
          </a:p>
        </p:txBody>
      </p:sp>
      <p:sp>
        <p:nvSpPr>
          <p:cNvPr id="136" name="Text 134"/>
          <p:cNvSpPr/>
          <p:nvPr/>
        </p:nvSpPr>
        <p:spPr>
          <a:xfrm>
            <a:off x="9696298" y="5330952"/>
            <a:ext cx="21817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8A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柔性分拣 · 可横向扩展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310896" y="5669280"/>
            <a:ext cx="968433" cy="274320"/>
          </a:xfrm>
          <a:prstGeom prst="roundRect">
            <a:avLst>
              <a:gd name="adj" fmla="val 16667"/>
            </a:avLst>
          </a:prstGeom>
          <a:solidFill>
            <a:srgbClr val="EDF1F5"/>
          </a:solidFill>
          <a:ln/>
        </p:spPr>
      </p:sp>
      <p:sp>
        <p:nvSpPr>
          <p:cNvPr id="138" name="Text 136"/>
          <p:cNvSpPr/>
          <p:nvPr/>
        </p:nvSpPr>
        <p:spPr>
          <a:xfrm>
            <a:off x="310896" y="5669280"/>
            <a:ext cx="9684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输送机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1370769" y="5669280"/>
            <a:ext cx="968433" cy="274320"/>
          </a:xfrm>
          <a:prstGeom prst="roundRect">
            <a:avLst>
              <a:gd name="adj" fmla="val 16667"/>
            </a:avLst>
          </a:prstGeom>
          <a:solidFill>
            <a:srgbClr val="EDF1F5"/>
          </a:solidFill>
          <a:ln/>
        </p:spPr>
      </p:sp>
      <p:sp>
        <p:nvSpPr>
          <p:cNvPr id="140" name="Text 138"/>
          <p:cNvSpPr/>
          <p:nvPr/>
        </p:nvSpPr>
        <p:spPr>
          <a:xfrm>
            <a:off x="1370769" y="5669280"/>
            <a:ext cx="9684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外形检测机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2430641" y="5669280"/>
            <a:ext cx="968433" cy="274320"/>
          </a:xfrm>
          <a:prstGeom prst="roundRect">
            <a:avLst>
              <a:gd name="adj" fmla="val 16667"/>
            </a:avLst>
          </a:prstGeom>
          <a:solidFill>
            <a:srgbClr val="EDF1F5"/>
          </a:solidFill>
          <a:ln/>
        </p:spPr>
      </p:sp>
      <p:sp>
        <p:nvSpPr>
          <p:cNvPr id="142" name="Text 140"/>
          <p:cNvSpPr/>
          <p:nvPr/>
        </p:nvSpPr>
        <p:spPr>
          <a:xfrm>
            <a:off x="2430641" y="5669280"/>
            <a:ext cx="9684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缠膜机</a:t>
            </a: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3490514" y="5669280"/>
            <a:ext cx="968433" cy="274320"/>
          </a:xfrm>
          <a:prstGeom prst="roundRect">
            <a:avLst>
              <a:gd name="adj" fmla="val 16667"/>
            </a:avLst>
          </a:prstGeom>
          <a:solidFill>
            <a:srgbClr val="EDF1F5"/>
          </a:solidFill>
          <a:ln/>
        </p:spPr>
      </p:sp>
      <p:sp>
        <p:nvSpPr>
          <p:cNvPr id="144" name="Text 142"/>
          <p:cNvSpPr/>
          <p:nvPr/>
        </p:nvSpPr>
        <p:spPr>
          <a:xfrm>
            <a:off x="3490514" y="5669280"/>
            <a:ext cx="9684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堆垛机</a:t>
            </a:r>
            <a:endParaRPr lang="en-US" sz="800" dirty="0"/>
          </a:p>
        </p:txBody>
      </p:sp>
      <p:sp>
        <p:nvSpPr>
          <p:cNvPr id="145" name="Shape 143"/>
          <p:cNvSpPr/>
          <p:nvPr/>
        </p:nvSpPr>
        <p:spPr>
          <a:xfrm>
            <a:off x="4550387" y="5669280"/>
            <a:ext cx="968433" cy="274320"/>
          </a:xfrm>
          <a:prstGeom prst="roundRect">
            <a:avLst>
              <a:gd name="adj" fmla="val 16667"/>
            </a:avLst>
          </a:prstGeom>
          <a:solidFill>
            <a:srgbClr val="EDF1F5"/>
          </a:solidFill>
          <a:ln/>
        </p:spPr>
      </p:sp>
      <p:sp>
        <p:nvSpPr>
          <p:cNvPr id="146" name="Text 144"/>
          <p:cNvSpPr/>
          <p:nvPr/>
        </p:nvSpPr>
        <p:spPr>
          <a:xfrm>
            <a:off x="4550387" y="5669280"/>
            <a:ext cx="9684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四向车</a:t>
            </a:r>
            <a:endParaRPr lang="en-US" sz="800" dirty="0"/>
          </a:p>
        </p:txBody>
      </p:sp>
      <p:sp>
        <p:nvSpPr>
          <p:cNvPr id="147" name="Shape 145"/>
          <p:cNvSpPr/>
          <p:nvPr/>
        </p:nvSpPr>
        <p:spPr>
          <a:xfrm>
            <a:off x="5610260" y="5669280"/>
            <a:ext cx="968433" cy="274320"/>
          </a:xfrm>
          <a:prstGeom prst="roundRect">
            <a:avLst>
              <a:gd name="adj" fmla="val 16667"/>
            </a:avLst>
          </a:prstGeom>
          <a:solidFill>
            <a:srgbClr val="EDF1F5"/>
          </a:solidFill>
          <a:ln/>
        </p:spPr>
      </p:sp>
      <p:sp>
        <p:nvSpPr>
          <p:cNvPr id="148" name="Text 146"/>
          <p:cNvSpPr/>
          <p:nvPr/>
        </p:nvSpPr>
        <p:spPr>
          <a:xfrm>
            <a:off x="5610260" y="5669280"/>
            <a:ext cx="9684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AGV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6670132" y="5669280"/>
            <a:ext cx="968433" cy="274320"/>
          </a:xfrm>
          <a:prstGeom prst="roundRect">
            <a:avLst>
              <a:gd name="adj" fmla="val 16667"/>
            </a:avLst>
          </a:prstGeom>
          <a:solidFill>
            <a:srgbClr val="EDF1F5"/>
          </a:solidFill>
          <a:ln/>
        </p:spPr>
      </p:sp>
      <p:sp>
        <p:nvSpPr>
          <p:cNvPr id="150" name="Text 148"/>
          <p:cNvSpPr/>
          <p:nvPr/>
        </p:nvSpPr>
        <p:spPr>
          <a:xfrm>
            <a:off x="6670132" y="5669280"/>
            <a:ext cx="9684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</a:t>
            </a:r>
            <a:endParaRPr lang="en-US" sz="800" dirty="0"/>
          </a:p>
        </p:txBody>
      </p:sp>
      <p:sp>
        <p:nvSpPr>
          <p:cNvPr id="151" name="Shape 149"/>
          <p:cNvSpPr/>
          <p:nvPr/>
        </p:nvSpPr>
        <p:spPr>
          <a:xfrm>
            <a:off x="7730005" y="5669280"/>
            <a:ext cx="968433" cy="274320"/>
          </a:xfrm>
          <a:prstGeom prst="roundRect">
            <a:avLst>
              <a:gd name="adj" fmla="val 16667"/>
            </a:avLst>
          </a:prstGeom>
          <a:solidFill>
            <a:srgbClr val="EDF1F5"/>
          </a:solidFill>
          <a:ln/>
        </p:spPr>
      </p:sp>
      <p:sp>
        <p:nvSpPr>
          <p:cNvPr id="152" name="Text 150"/>
          <p:cNvSpPr/>
          <p:nvPr/>
        </p:nvSpPr>
        <p:spPr>
          <a:xfrm>
            <a:off x="7730005" y="5669280"/>
            <a:ext cx="9684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工作站</a:t>
            </a:r>
            <a:endParaRPr lang="en-US" sz="800" dirty="0"/>
          </a:p>
        </p:txBody>
      </p:sp>
      <p:sp>
        <p:nvSpPr>
          <p:cNvPr id="153" name="Shape 151"/>
          <p:cNvSpPr/>
          <p:nvPr/>
        </p:nvSpPr>
        <p:spPr>
          <a:xfrm>
            <a:off x="8789878" y="5669280"/>
            <a:ext cx="968433" cy="274320"/>
          </a:xfrm>
          <a:prstGeom prst="roundRect">
            <a:avLst>
              <a:gd name="adj" fmla="val 16667"/>
            </a:avLst>
          </a:prstGeom>
          <a:solidFill>
            <a:srgbClr val="EDF1F5"/>
          </a:solidFill>
          <a:ln/>
        </p:spPr>
      </p:sp>
      <p:sp>
        <p:nvSpPr>
          <p:cNvPr id="154" name="Text 152"/>
          <p:cNvSpPr/>
          <p:nvPr/>
        </p:nvSpPr>
        <p:spPr>
          <a:xfrm>
            <a:off x="8789878" y="5669280"/>
            <a:ext cx="9684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提升机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9849751" y="5669280"/>
            <a:ext cx="968433" cy="274320"/>
          </a:xfrm>
          <a:prstGeom prst="roundRect">
            <a:avLst>
              <a:gd name="adj" fmla="val 16667"/>
            </a:avLst>
          </a:prstGeom>
          <a:solidFill>
            <a:srgbClr val="EDF1F5"/>
          </a:solidFill>
          <a:ln/>
        </p:spPr>
      </p:sp>
      <p:sp>
        <p:nvSpPr>
          <p:cNvPr id="156" name="Text 154"/>
          <p:cNvSpPr/>
          <p:nvPr/>
        </p:nvSpPr>
        <p:spPr>
          <a:xfrm>
            <a:off x="9849751" y="5669280"/>
            <a:ext cx="9684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无人叉车</a:t>
            </a:r>
            <a:endParaRPr lang="en-US" sz="800" dirty="0"/>
          </a:p>
        </p:txBody>
      </p:sp>
      <p:sp>
        <p:nvSpPr>
          <p:cNvPr id="157" name="Shape 155"/>
          <p:cNvSpPr/>
          <p:nvPr/>
        </p:nvSpPr>
        <p:spPr>
          <a:xfrm>
            <a:off x="10909623" y="5669280"/>
            <a:ext cx="968433" cy="274320"/>
          </a:xfrm>
          <a:prstGeom prst="roundRect">
            <a:avLst>
              <a:gd name="adj" fmla="val 16667"/>
            </a:avLst>
          </a:prstGeom>
          <a:solidFill>
            <a:srgbClr val="EDF1F5"/>
          </a:solidFill>
          <a:ln/>
        </p:spPr>
      </p:sp>
      <p:sp>
        <p:nvSpPr>
          <p:cNvPr id="158" name="Text 156"/>
          <p:cNvSpPr/>
          <p:nvPr/>
        </p:nvSpPr>
        <p:spPr>
          <a:xfrm>
            <a:off x="10909623" y="5669280"/>
            <a:ext cx="9684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贴标机</a:t>
            </a:r>
            <a:endParaRPr lang="en-US" sz="800" dirty="0"/>
          </a:p>
        </p:txBody>
      </p:sp>
      <p:sp>
        <p:nvSpPr>
          <p:cNvPr id="159" name="Text 157"/>
          <p:cNvSpPr/>
          <p:nvPr/>
        </p:nvSpPr>
        <p:spPr>
          <a:xfrm>
            <a:off x="310896" y="6053328"/>
            <a:ext cx="1156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A92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说明：WMS 与自动化供应商系统之间不直连，全部通过 WCS 标准指令集完成上下行交互；自研 WCS 承担调度引擎、指令协议与能力适配的核心职责，供应商系统作为可插拔执行体，按统一适配规范接入、可横向扩展替换。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全渠道仓库自动化接入 WCS · 产品方案</dc:title>
  <dc:subject>PptxGenJS Presentation</dc:subject>
  <dc:creator>WCS</dc:creator>
  <cp:lastModifiedBy>WCS</cp:lastModifiedBy>
  <cp:revision>1</cp:revision>
  <dcterms:created xsi:type="dcterms:W3CDTF">2026-06-24T13:12:21Z</dcterms:created>
  <dcterms:modified xsi:type="dcterms:W3CDTF">2026-06-24T13:12:21Z</dcterms:modified>
</cp:coreProperties>
</file>