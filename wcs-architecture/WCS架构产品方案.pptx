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46304"/>
            <a:ext cx="64008" cy="365760"/>
          </a:xfrm>
          <a:prstGeom prst="rect">
            <a:avLst/>
          </a:prstGeom>
          <a:solidFill>
            <a:srgbClr val="E3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09728"/>
            <a:ext cx="96926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262626"/>
                </a:solidFill>
                <a:latin typeface="Microsoft YaHei"/>
              </a:rPr>
              <a:t>全渠道仓库自动化接入 WCS · 产品方案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548640"/>
            <a:ext cx="1146017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7A7A"/>
                </a:solidFill>
                <a:latin typeface="Microsoft YaHei"/>
              </a:rPr>
              <a:t>Flux WMS 与 WHC 自动化任务编排在上，自研 WCS 以标准指令集统一下发、按能力分层调度自动化设备；上下行交互均经 WCS 贯通衔接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77824"/>
            <a:ext cx="6400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9"/>
                </a:solidFill>
                <a:latin typeface="Microsoft YaHei"/>
              </a:rPr>
              <a:t>业务决策层 · WMS（上游多源系统接入）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877824"/>
            <a:ext cx="27432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95959"/>
                </a:solidFill>
                <a:latin typeface="Microsoft YaHei"/>
              </a:rPr>
              <a:t>供应链 WMS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078992"/>
            <a:ext cx="6549996" cy="530352"/>
          </a:xfrm>
          <a:prstGeom prst="roundRect">
            <a:avLst>
              <a:gd name="adj" fmla="val 5000"/>
            </a:avLst>
          </a:prstGeom>
          <a:solidFill>
            <a:srgbClr val="FCFDFE"/>
          </a:solidFill>
          <a:ln w="12700">
            <a:solidFill>
              <a:srgbClr val="9FB7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3939" y="1143000"/>
            <a:ext cx="1618820" cy="40233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3939" y="1179576"/>
            <a:ext cx="16188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4E79"/>
                </a:solidFill>
                <a:latin typeface="Microsoft YaHei"/>
              </a:rPr>
              <a:t>DC Flux WMS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5327" y="1367028"/>
            <a:ext cx="1036045" cy="1463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2227" y="1389888"/>
            <a:ext cx="1582244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7A7A7A"/>
                </a:solidFill>
                <a:latin typeface="Microsoft YaHei"/>
              </a:rPr>
              <a:t>DC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55022" y="1143000"/>
            <a:ext cx="1618820" cy="40233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55022" y="1179576"/>
            <a:ext cx="16188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4E79"/>
                </a:solidFill>
                <a:latin typeface="Microsoft YaHei"/>
              </a:rPr>
              <a:t>FC Flux WMS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46410" y="1367028"/>
            <a:ext cx="1036045" cy="1463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73310" y="1389888"/>
            <a:ext cx="1582244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7A7A7A"/>
                </a:solidFill>
                <a:latin typeface="Microsoft YaHei"/>
              </a:rPr>
              <a:t>CDC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36105" y="1143000"/>
            <a:ext cx="2988591" cy="40233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6105" y="1179576"/>
            <a:ext cx="298859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Microsoft YaHei"/>
              </a:rPr>
              <a:t>City DC Flux WMS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74051" y="1367028"/>
            <a:ext cx="1912698" cy="1463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54393" y="1389888"/>
            <a:ext cx="2952015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7A7A7A"/>
                </a:solidFill>
                <a:latin typeface="Microsoft YaHei"/>
              </a:rPr>
              <a:t>FWDC / FC / CBEC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66749" y="877824"/>
            <a:ext cx="27432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95959"/>
                </a:solidFill>
                <a:latin typeface="Microsoft YaHei"/>
              </a:rPr>
              <a:t>门店域 WMS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8461" y="1078992"/>
            <a:ext cx="4868913" cy="530352"/>
          </a:xfrm>
          <a:prstGeom prst="roundRect">
            <a:avLst>
              <a:gd name="adj" fmla="val 5000"/>
            </a:avLst>
          </a:prstGeom>
          <a:solidFill>
            <a:srgbClr val="FCFDFE"/>
          </a:solidFill>
          <a:ln w="12700">
            <a:solidFill>
              <a:srgbClr val="9FB7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148080" y="1143000"/>
            <a:ext cx="1618820" cy="40233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48080" y="1179576"/>
            <a:ext cx="16188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4E79"/>
                </a:solidFill>
                <a:latin typeface="Microsoft YaHei"/>
              </a:rPr>
              <a:t>门店 WMS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39468" y="1367028"/>
            <a:ext cx="1036045" cy="1463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66368" y="1389888"/>
            <a:ext cx="1582244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7A7A7A"/>
                </a:solidFill>
                <a:latin typeface="Microsoft YaHei"/>
              </a:rPr>
              <a:t>门店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29163" y="1143000"/>
            <a:ext cx="2988591" cy="40233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9163" y="1179576"/>
            <a:ext cx="298859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Microsoft YaHei"/>
              </a:rPr>
              <a:t>云仓 WMS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67110" y="1367028"/>
            <a:ext cx="1912698" cy="1463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47451" y="1389888"/>
            <a:ext cx="2952015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7A7A7A"/>
                </a:solidFill>
                <a:latin typeface="Microsoft YaHei"/>
              </a:rPr>
              <a:t>云仓 / 社区店 / Darkstore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83349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864432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230401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957491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323459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767236" y="1627631"/>
            <a:ext cx="465722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7A7A7A"/>
                </a:solidFill>
                <a:latin typeface="Microsoft YaHei"/>
              </a:rPr>
              <a:t>标准指令双向交互：下行指令 / 上行状态，统一经 WCS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1655063"/>
            <a:ext cx="2377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Microsoft YaHei"/>
              </a:rPr>
              <a:t>WCS 平台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4320" y="1874519"/>
            <a:ext cx="11643055" cy="3246120"/>
          </a:xfrm>
          <a:prstGeom prst="roundRect">
            <a:avLst>
              <a:gd name="adj" fmla="val 2000"/>
            </a:avLst>
          </a:prstGeom>
          <a:solidFill>
            <a:srgbClr val="FCFDFE"/>
          </a:solidFill>
          <a:ln w="12700">
            <a:solidFill>
              <a:srgbClr val="9FB7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20623" y="1993391"/>
            <a:ext cx="9091636" cy="475488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/>
              </a:rPr>
              <a:t>WCS · 仓储自动化统一调度引擎</a:t>
            </a:r>
          </a:p>
          <a:p>
            <a:pPr algn="ctr"/>
            <a:r>
              <a:rPr sz="900">
                <a:solidFill>
                  <a:srgbClr val="CFE0F3"/>
                </a:solidFill>
                <a:latin typeface="Microsoft YaHei"/>
              </a:rPr>
              <a:t>标准指令协议：版本化管理 · 幂等重试 · 灰度发布 · 限流降级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3" y="2560320"/>
            <a:ext cx="90916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Microsoft YaHei"/>
              </a:rPr>
              <a:t>① 统一调度层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4900" y="2560320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A7A7A"/>
                </a:solidFill>
                <a:latin typeface="Microsoft YaHei"/>
              </a:rPr>
              <a:t>Scheduling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20623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任务编排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多任务并行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941230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优先级调度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SLA分级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61837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路由分配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最优匹配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82444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限流降级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峰值保护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03051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异常熔断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失败重试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23658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执行监控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时效预警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623" y="3253781"/>
            <a:ext cx="90916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Microsoft YaHei"/>
              </a:rPr>
              <a:t>② 标准指令集层（核心）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4900" y="3253781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A7A7A"/>
                </a:solidFill>
                <a:latin typeface="Microsoft YaHei"/>
              </a:rPr>
              <a:t>Standard Instruction Set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20623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商品信息指令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创建·修改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941230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收货指令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DWS称重·提码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461837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上架指令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存储·返回库位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82444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盘点指令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RFID·物理盘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503051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移库指令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存储·返回库位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23658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监控预警指令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过程跟踪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20623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容器信息指令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容器绑定·解绑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941230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波次指令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波次旗号·产能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461837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拣货指令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货架/货位/托盘到人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982444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分播指令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格口/订单/门店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503051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对账指令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存储·返回库位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23658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任务单看板指令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数据回传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0623" y="4381458"/>
            <a:ext cx="90916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Microsoft YaHei"/>
              </a:rPr>
              <a:t>③ 设备能力适配层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4900" y="4381458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A7A7A"/>
                </a:solidFill>
                <a:latin typeface="Microsoft YaHei"/>
              </a:rPr>
              <a:t>Capability Adapter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20623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货架到人适配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PopPick类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941230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料箱到人适配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Shuttle类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61837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托盘到人适配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高位密存类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82444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分拣机器人适配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柔性分拣类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03051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语音适配拣选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语音引导·免视觉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23658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通用设备适配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AGV/RGV/输送线/机器人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76852" y="1655063"/>
            <a:ext cx="238682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Microsoft YaHei"/>
              </a:rPr>
              <a:t>看板平台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676852" y="1993391"/>
            <a:ext cx="2386826" cy="30083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9FB7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804868" y="2084831"/>
            <a:ext cx="21307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Microsoft YaHei"/>
              </a:rPr>
              <a:t>可视化平台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23156" y="2414015"/>
            <a:ext cx="2112506" cy="232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全仓任务看板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23156" y="2625090"/>
            <a:ext cx="2112506" cy="189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全仓任务 · 看板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804868" y="2817876"/>
            <a:ext cx="2130794" cy="10972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23156" y="2836164"/>
            <a:ext cx="2112506" cy="232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自动化区域监控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23156" y="3047238"/>
            <a:ext cx="2112506" cy="189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自动化区任务监控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804868" y="3240024"/>
            <a:ext cx="2130794" cy="10972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823156" y="3258312"/>
            <a:ext cx="2112506" cy="232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指令执行看板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23156" y="3469386"/>
            <a:ext cx="2112506" cy="189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指令时效 · 成功率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804868" y="3662172"/>
            <a:ext cx="2130794" cy="10972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23156" y="3680460"/>
            <a:ext cx="2112506" cy="232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设备监控层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823156" y="3891534"/>
            <a:ext cx="2112506" cy="189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设备状态 · 能耗 · 故障预警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804868" y="4084320"/>
            <a:ext cx="2130794" cy="10972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823156" y="4102608"/>
            <a:ext cx="2112506" cy="232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异常工单看板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823156" y="4313682"/>
            <a:ext cx="2112506" cy="189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异常 / 重试 / 告警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804868" y="4506468"/>
            <a:ext cx="2130794" cy="10972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23156" y="4524756"/>
            <a:ext cx="2112506" cy="232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数字孪生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823156" y="4735830"/>
            <a:ext cx="2112506" cy="189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仓内全要素映射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183614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3148507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5113401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7078294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9043187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1008080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2421072" y="5138928"/>
            <a:ext cx="581948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7A7A7A"/>
                </a:solidFill>
                <a:latin typeface="Microsoft YaHei"/>
              </a:rPr>
              <a:t>标准指令下发 / 执行状态上报，统一经 WCS 适配对接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74320" y="5184648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9"/>
                </a:solidFill>
                <a:latin typeface="Microsoft YaHei"/>
              </a:rPr>
              <a:t>下游 · 自动化供应商系统（按能力适配接入，可扩展）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74320" y="5404104"/>
            <a:ext cx="1818589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29184" y="5468112"/>
            <a:ext cx="170886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F4E79"/>
                </a:solidFill>
                <a:latin typeface="Microsoft YaHei"/>
              </a:rPr>
              <a:t>WCS1 · 货架到人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01666" y="5678424"/>
            <a:ext cx="1163897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29184" y="5733288"/>
            <a:ext cx="17088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7A7A7A"/>
                </a:solidFill>
                <a:latin typeface="Microsoft YaHei"/>
              </a:rPr>
              <a:t>PopPick · 全品类订单单行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239213" y="5404104"/>
            <a:ext cx="1818589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294077" y="5468112"/>
            <a:ext cx="170886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F4E79"/>
                </a:solidFill>
                <a:latin typeface="Microsoft YaHei"/>
              </a:rPr>
              <a:t>WCS2 · 料箱到人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566559" y="5678424"/>
            <a:ext cx="1163897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294077" y="5733288"/>
            <a:ext cx="17088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7A7A7A"/>
                </a:solidFill>
                <a:latin typeface="Microsoft YaHei"/>
              </a:rPr>
              <a:t>RoboShuttle · 高密垂直存储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204106" y="5404104"/>
            <a:ext cx="1818589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258970" y="5468112"/>
            <a:ext cx="170886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F4E79"/>
                </a:solidFill>
                <a:latin typeface="Microsoft YaHei"/>
              </a:rPr>
              <a:t>WCS3 · 料箱到人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531452" y="5678424"/>
            <a:ext cx="1163897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258970" y="5733288"/>
            <a:ext cx="17088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7A7A7A"/>
                </a:solidFill>
                <a:latin typeface="Microsoft YaHei"/>
              </a:rPr>
              <a:t>闪擎 · 高效拣选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168999" y="5404104"/>
            <a:ext cx="1818589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223863" y="5468112"/>
            <a:ext cx="170886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F4E79"/>
                </a:solidFill>
                <a:latin typeface="Microsoft YaHei"/>
              </a:rPr>
              <a:t>WCS4 · 托盘到人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496345" y="5678424"/>
            <a:ext cx="1163897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223863" y="5733288"/>
            <a:ext cx="17088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7A7A7A"/>
                </a:solidFill>
                <a:latin typeface="Microsoft YaHei"/>
              </a:rPr>
              <a:t>上架/下拣 · 高密存储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8133892" y="5404104"/>
            <a:ext cx="1818589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188756" y="5468112"/>
            <a:ext cx="170886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F4E79"/>
                </a:solidFill>
                <a:latin typeface="Microsoft YaHei"/>
              </a:rPr>
              <a:t>WCS5 · 语音拣选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61238" y="5678424"/>
            <a:ext cx="1163897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188756" y="5733288"/>
            <a:ext cx="17088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7A7A7A"/>
                </a:solidFill>
                <a:latin typeface="Microsoft YaHei"/>
              </a:rPr>
              <a:t>语音终端 · 免视觉拣选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0098785" y="5404104"/>
            <a:ext cx="1818589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153650" y="5468112"/>
            <a:ext cx="170886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F4E79"/>
                </a:solidFill>
                <a:latin typeface="Microsoft YaHei"/>
              </a:rPr>
              <a:t>WCS N · 分拣机器人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426132" y="5678424"/>
            <a:ext cx="1163897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153650" y="5733288"/>
            <a:ext cx="17088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7A7A7A"/>
                </a:solidFill>
                <a:latin typeface="Microsoft YaHei"/>
              </a:rPr>
              <a:t>柔性分拣 · 可横向扩展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74320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74320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输送机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337767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337767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外形检测机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401214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2401214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缠膜机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464661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3464661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堆垛机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528108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528108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四向车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591556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591556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AGV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655003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655003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机器人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7718450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718450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工作站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8781897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781897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提升机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845344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845344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无人叉车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0908792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908792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贴标机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74320" y="6464808"/>
            <a:ext cx="1164305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A7A7A"/>
                </a:solidFill>
                <a:latin typeface="Microsoft YaHei"/>
              </a:rPr>
              <a:t>说明：WMS 与自动化供应商系统之间不直连，全部通过 WCS 标准指令集完成上下行交互；自研 WCS 承担调度引擎、指令协议与能力适配的核心职责，供应商系统作为可插拔执行层，按统一适配规范接入、可横向扩展替换。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46304"/>
            <a:ext cx="64008" cy="365760"/>
          </a:xfrm>
          <a:prstGeom prst="rect">
            <a:avLst/>
          </a:prstGeom>
          <a:solidFill>
            <a:srgbClr val="E3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09728"/>
            <a:ext cx="96926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262626"/>
                </a:solidFill>
                <a:latin typeface="Microsoft YaHei"/>
              </a:rPr>
              <a:t>WCS 核心架构 · 服务能力分解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548640"/>
            <a:ext cx="1146017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7A7A"/>
                </a:solidFill>
                <a:latin typeface="Microsoft YaHei"/>
              </a:rPr>
              <a:t>wcs-core 承接 WMS 标准指令并统一调度，向下按场景适配 / 厂商对接 / 调度策略下发执行；wcs-dashboard 独立完成运行数据的采集、加工与可视化展示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960120"/>
            <a:ext cx="566928" cy="5029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60120"/>
            <a:ext cx="56692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Microsoft YaHei"/>
              </a:rPr>
              <a:t>WMS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737360"/>
            <a:ext cx="566928" cy="411480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737360"/>
            <a:ext cx="566928" cy="411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Microsoft YaHei"/>
              </a:rPr>
              <a:t>WCS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6080760"/>
            <a:ext cx="566928" cy="45720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080760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Microsoft YaHei"/>
              </a:rPr>
              <a:t>DEVICE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960120"/>
            <a:ext cx="5391759" cy="502920"/>
          </a:xfrm>
          <a:prstGeom prst="roundRect">
            <a:avLst>
              <a:gd name="adj" fmla="val 4000"/>
            </a:avLst>
          </a:prstGeom>
          <a:solidFill>
            <a:srgbClr val="FCFDFE"/>
          </a:solidFill>
          <a:ln w="1270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960120"/>
            <a:ext cx="539175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F4E79"/>
                </a:solidFill>
                <a:latin typeface="Microsoft YaHei"/>
              </a:rPr>
              <a:t>Flux WMS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25615" y="960120"/>
            <a:ext cx="5391759" cy="502920"/>
          </a:xfrm>
          <a:prstGeom prst="roundRect">
            <a:avLst>
              <a:gd name="adj" fmla="val 4000"/>
            </a:avLst>
          </a:prstGeom>
          <a:solidFill>
            <a:srgbClr val="FCFDFE"/>
          </a:solidFill>
          <a:ln w="1270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5615" y="960120"/>
            <a:ext cx="539175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F4E79"/>
                </a:solidFill>
                <a:latin typeface="Microsoft YaHei"/>
              </a:rPr>
              <a:t>飞云 WMS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65143" y="1463040"/>
            <a:ext cx="0" cy="274320"/>
          </a:xfrm>
          <a:prstGeom prst="line">
            <a:avLst/>
          </a:prstGeom>
          <a:ln w="12700">
            <a:solidFill>
              <a:srgbClr val="8C9BB3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221495" y="1463040"/>
            <a:ext cx="0" cy="274320"/>
          </a:xfrm>
          <a:prstGeom prst="line">
            <a:avLst/>
          </a:prstGeom>
          <a:ln w="12700">
            <a:solidFill>
              <a:srgbClr val="8C9BB3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934731" y="1481328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A7A7A"/>
                </a:solidFill>
                <a:latin typeface="Microsoft YaHei"/>
              </a:rPr>
              <a:t>同步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9264" y="1737360"/>
            <a:ext cx="7280493" cy="4114800"/>
          </a:xfrm>
          <a:prstGeom prst="roundRect">
            <a:avLst>
              <a:gd name="adj" fmla="val 2000"/>
            </a:avLst>
          </a:prstGeom>
          <a:solidFill>
            <a:srgbClr val="FCFDFE"/>
          </a:solidFill>
          <a:ln w="12700">
            <a:solidFill>
              <a:srgbClr val="9FB7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14349" y="1737360"/>
            <a:ext cx="3503025" cy="4114800"/>
          </a:xfrm>
          <a:prstGeom prst="roundRect">
            <a:avLst>
              <a:gd name="adj" fmla="val 2000"/>
            </a:avLst>
          </a:prstGeom>
          <a:solidFill>
            <a:srgbClr val="FCFDFE"/>
          </a:solidFill>
          <a:ln w="12700">
            <a:solidFill>
              <a:srgbClr val="9FB7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1810512"/>
            <a:ext cx="581745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Microsoft YaHei"/>
              </a:rPr>
              <a:t>自动化设备调度服务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5277" y="1810512"/>
            <a:ext cx="14264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Microsoft YaHei"/>
              </a:rPr>
              <a:t>wcs-core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4349" y="1792224"/>
            <a:ext cx="350302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F4E79"/>
                </a:solidFill>
                <a:latin typeface="Microsoft YaHei"/>
              </a:rPr>
              <a:t>自动化设备可视化看板</a:t>
            </a:r>
          </a:p>
          <a:p>
            <a:pPr algn="ctr"/>
            <a:r>
              <a:rPr sz="900">
                <a:solidFill>
                  <a:srgbClr val="7A7A7A"/>
                </a:solidFill>
                <a:latin typeface="Microsoft YaHei"/>
              </a:rPr>
              <a:t>(wcs-dashboard)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78992" y="2084832"/>
            <a:ext cx="4159813" cy="1935601"/>
          </a:xfrm>
          <a:prstGeom prst="roundRect">
            <a:avLst>
              <a:gd name="adj" fmla="val 3000"/>
            </a:avLst>
          </a:prstGeom>
          <a:solidFill>
            <a:srgbClr val="FCFDFE"/>
          </a:solidFill>
          <a:ln w="1270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2139696"/>
            <a:ext cx="397693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F4E79"/>
                </a:solidFill>
                <a:latin typeface="Microsoft YaHei"/>
              </a:rPr>
              <a:t>标准指令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" y="2139696"/>
            <a:ext cx="397693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7A7A7A"/>
                </a:solidFill>
                <a:latin typeface="Microsoft YaHei"/>
              </a:rPr>
              <a:t>wcs-instruction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70432" y="2359152"/>
            <a:ext cx="1301260" cy="374172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商品信息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08268" y="2359152"/>
            <a:ext cx="1301260" cy="374172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收货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46104" y="2359152"/>
            <a:ext cx="1301260" cy="374172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分拣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70432" y="2769900"/>
            <a:ext cx="1301260" cy="374172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容器操作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08268" y="2769900"/>
            <a:ext cx="1301260" cy="374172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上架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46104" y="2769900"/>
            <a:ext cx="1301260" cy="374172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对账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70432" y="3180648"/>
            <a:ext cx="1301260" cy="374172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波次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08268" y="3180648"/>
            <a:ext cx="1301260" cy="374172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盘点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46104" y="3180648"/>
            <a:ext cx="1301260" cy="374172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补货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70432" y="3591397"/>
            <a:ext cx="1301260" cy="374172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拣货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08268" y="3591397"/>
            <a:ext cx="1301260" cy="374172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移库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46104" y="3591397"/>
            <a:ext cx="1301260" cy="374172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调整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66821" y="2084832"/>
            <a:ext cx="2773208" cy="1935601"/>
          </a:xfrm>
          <a:prstGeom prst="roundRect">
            <a:avLst>
              <a:gd name="adj" fmla="val 3000"/>
            </a:avLst>
          </a:prstGeom>
          <a:solidFill>
            <a:srgbClr val="FCFDFE"/>
          </a:solidFill>
          <a:ln w="1270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58261" y="2139696"/>
            <a:ext cx="25903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F4E79"/>
                </a:solidFill>
                <a:latin typeface="Microsoft YaHei"/>
              </a:rPr>
              <a:t>指令调度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8261" y="2139696"/>
            <a:ext cx="25903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7A7A7A"/>
                </a:solidFill>
                <a:latin typeface="Microsoft YaHei"/>
              </a:rPr>
              <a:t>wcs-schedule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58261" y="2359152"/>
            <a:ext cx="1276876" cy="374172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指令编排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771713" y="2359152"/>
            <a:ext cx="1276876" cy="374172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优先调度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58261" y="2769900"/>
            <a:ext cx="1276876" cy="374172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限流降级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71713" y="2769900"/>
            <a:ext cx="1276876" cy="374172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熔断重试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58261" y="3180648"/>
            <a:ext cx="1276876" cy="374172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运行监控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771713" y="3180648"/>
            <a:ext cx="1276876" cy="374172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运行记录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58261" y="3591397"/>
            <a:ext cx="1276876" cy="374172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结果回传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771713" y="3591397"/>
            <a:ext cx="1276876" cy="374172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路由分配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78992" y="4111873"/>
            <a:ext cx="2736632" cy="1648846"/>
          </a:xfrm>
          <a:prstGeom prst="roundRect">
            <a:avLst>
              <a:gd name="adj" fmla="val 3000"/>
            </a:avLst>
          </a:prstGeom>
          <a:solidFill>
            <a:srgbClr val="FCFDFE"/>
          </a:solidFill>
          <a:ln w="1270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70432" y="4166737"/>
            <a:ext cx="25537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F4E79"/>
                </a:solidFill>
                <a:latin typeface="Microsoft YaHei"/>
              </a:rPr>
              <a:t>设备场景适配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0432" y="4166737"/>
            <a:ext cx="25537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7A7A7A"/>
                </a:solidFill>
                <a:latin typeface="Microsoft YaHei"/>
              </a:rPr>
              <a:t>wcs-scenario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70432" y="4386193"/>
            <a:ext cx="1258588" cy="302483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货架到人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465596" y="4386193"/>
            <a:ext cx="1258588" cy="302483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料箱到人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70432" y="4725253"/>
            <a:ext cx="1258588" cy="302483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托盘到人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465596" y="4725253"/>
            <a:ext cx="1258588" cy="302483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分拣机器人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70432" y="5064312"/>
            <a:ext cx="1258588" cy="302483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语音拣选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465596" y="5064312"/>
            <a:ext cx="1258588" cy="302483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打包贴标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70432" y="5403372"/>
            <a:ext cx="2553752" cy="302483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通用设备适配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925352" y="4111873"/>
            <a:ext cx="2736632" cy="1648846"/>
          </a:xfrm>
          <a:prstGeom prst="roundRect">
            <a:avLst>
              <a:gd name="adj" fmla="val 3000"/>
            </a:avLst>
          </a:prstGeom>
          <a:solidFill>
            <a:srgbClr val="FCFDFE"/>
          </a:solidFill>
          <a:ln w="1270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16792" y="4166737"/>
            <a:ext cx="25537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F4E79"/>
                </a:solidFill>
                <a:latin typeface="Microsoft YaHei"/>
              </a:rPr>
              <a:t>设备厂商对接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16792" y="4166737"/>
            <a:ext cx="25537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7A7A7A"/>
                </a:solidFill>
                <a:latin typeface="Microsoft YaHei"/>
              </a:rPr>
              <a:t>wcs-integration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016792" y="4386193"/>
            <a:ext cx="1258588" cy="415503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SDK对接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311957" y="4386193"/>
            <a:ext cx="1258588" cy="415503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数据映射适配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016792" y="4838273"/>
            <a:ext cx="1258588" cy="415503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设备管理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311957" y="4838273"/>
            <a:ext cx="1258588" cy="415503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执行日志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016792" y="5290352"/>
            <a:ext cx="2553752" cy="415503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传输协议适配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771713" y="4111873"/>
            <a:ext cx="1368316" cy="1648846"/>
          </a:xfrm>
          <a:prstGeom prst="roundRect">
            <a:avLst>
              <a:gd name="adj" fmla="val 3000"/>
            </a:avLst>
          </a:prstGeom>
          <a:solidFill>
            <a:srgbClr val="FCFDFE"/>
          </a:solidFill>
          <a:ln w="1270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63153" y="4166737"/>
            <a:ext cx="118543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F4E79"/>
                </a:solidFill>
                <a:latin typeface="Microsoft YaHei"/>
              </a:rPr>
              <a:t>调度策略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63153" y="4166737"/>
            <a:ext cx="118543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7A7A7A"/>
                </a:solidFill>
                <a:latin typeface="Microsoft YaHei"/>
              </a:rPr>
              <a:t>wcs-strategy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863153" y="4386193"/>
            <a:ext cx="1185436" cy="415503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规则配置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863153" y="4838273"/>
            <a:ext cx="1185436" cy="415503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规则策略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863153" y="5290352"/>
            <a:ext cx="1185436" cy="415503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算法策略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524077" y="2231136"/>
            <a:ext cx="1577776" cy="3529584"/>
          </a:xfrm>
          <a:prstGeom prst="roundRect">
            <a:avLst>
              <a:gd name="adj" fmla="val 3000"/>
            </a:avLst>
          </a:prstGeom>
          <a:solidFill>
            <a:srgbClr val="FCFDFE"/>
          </a:solidFill>
          <a:ln w="1270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615517" y="2286000"/>
            <a:ext cx="13948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F4E79"/>
                </a:solidFill>
                <a:latin typeface="Microsoft YaHei"/>
              </a:rPr>
              <a:t>数据采集传输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15517" y="2286000"/>
            <a:ext cx="13948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7A7A7A"/>
                </a:solidFill>
                <a:latin typeface="Microsoft YaHei"/>
              </a:rPr>
              <a:t>wcs-acquisition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615517" y="2505456"/>
            <a:ext cx="1394896" cy="772668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异步消费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615517" y="3314700"/>
            <a:ext cx="1394896" cy="772668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定时采集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15517" y="4123944"/>
            <a:ext cx="1394896" cy="772668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数据标准化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615517" y="4933188"/>
            <a:ext cx="1394896" cy="772668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投递数据湖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0229870" y="2231136"/>
            <a:ext cx="1577776" cy="3529584"/>
          </a:xfrm>
          <a:prstGeom prst="roundRect">
            <a:avLst>
              <a:gd name="adj" fmla="val 3000"/>
            </a:avLst>
          </a:prstGeom>
          <a:solidFill>
            <a:srgbClr val="FCFDFE"/>
          </a:solidFill>
          <a:ln w="1270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321310" y="2286000"/>
            <a:ext cx="13948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F4E79"/>
                </a:solidFill>
                <a:latin typeface="Microsoft YaHei"/>
              </a:rPr>
              <a:t>可视化展示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21310" y="2286000"/>
            <a:ext cx="13948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7A7A7A"/>
                </a:solidFill>
                <a:latin typeface="Microsoft YaHei"/>
              </a:rPr>
              <a:t>wcs-visualization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321310" y="2505456"/>
            <a:ext cx="1394896" cy="772668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数据展示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321310" y="3314700"/>
            <a:ext cx="1394896" cy="772668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数据分析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321310" y="4123944"/>
            <a:ext cx="1394896" cy="772668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数据加工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321310" y="4933188"/>
            <a:ext cx="1394896" cy="772668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850" b="0">
                <a:solidFill>
                  <a:srgbClr val="262626"/>
                </a:solidFill>
                <a:latin typeface="Microsoft YaHei"/>
              </a:rPr>
              <a:t>数据源管理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4609510" y="5852160"/>
            <a:ext cx="0" cy="228600"/>
          </a:xfrm>
          <a:prstGeom prst="line">
            <a:avLst/>
          </a:prstGeom>
          <a:ln w="12700">
            <a:solidFill>
              <a:srgbClr val="8C9BB3"/>
            </a:solidFill>
            <a:prstDash val="dash"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4700950" y="5870448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A7A7A"/>
                </a:solidFill>
                <a:latin typeface="Microsoft YaHei"/>
              </a:rPr>
              <a:t>同步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0165862" y="5852160"/>
            <a:ext cx="0" cy="228600"/>
          </a:xfrm>
          <a:prstGeom prst="line">
            <a:avLst/>
          </a:prstGeom>
          <a:ln w="12700">
            <a:solidFill>
              <a:srgbClr val="8C9BB3"/>
            </a:solidFill>
            <a:prstDash val="dash"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10257302" y="5870448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A7A7A"/>
                </a:solidFill>
                <a:latin typeface="Microsoft YaHei"/>
              </a:rPr>
              <a:t>异步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69264" y="6080760"/>
            <a:ext cx="10948111" cy="457200"/>
          </a:xfrm>
          <a:prstGeom prst="roundRect">
            <a:avLst>
              <a:gd name="adj" fmla="val 6000"/>
            </a:avLst>
          </a:prstGeom>
          <a:solidFill>
            <a:srgbClr val="FCFDFE"/>
          </a:solidFill>
          <a:ln w="1270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1060704" y="6163056"/>
            <a:ext cx="912155" cy="292608"/>
          </a:xfrm>
          <a:prstGeom prst="roundRect">
            <a:avLst>
              <a:gd name="adj" fmla="val 16000"/>
            </a:avLst>
          </a:prstGeom>
          <a:solidFill>
            <a:srgbClr val="FBFCFE"/>
          </a:solidFill>
          <a:ln w="9525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60704" y="6163056"/>
            <a:ext cx="91215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F4E79"/>
                </a:solidFill>
                <a:latin typeface="Microsoft YaHei"/>
              </a:rPr>
              <a:t>输送机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046011" y="6163056"/>
            <a:ext cx="912155" cy="292608"/>
          </a:xfrm>
          <a:prstGeom prst="roundRect">
            <a:avLst>
              <a:gd name="adj" fmla="val 16000"/>
            </a:avLst>
          </a:prstGeom>
          <a:solidFill>
            <a:srgbClr val="FBFCFE"/>
          </a:solidFill>
          <a:ln w="9525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046011" y="6163056"/>
            <a:ext cx="91215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F4E79"/>
                </a:solidFill>
                <a:latin typeface="Microsoft YaHei"/>
              </a:rPr>
              <a:t>外形检测机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031319" y="6163056"/>
            <a:ext cx="912155" cy="292608"/>
          </a:xfrm>
          <a:prstGeom prst="roundRect">
            <a:avLst>
              <a:gd name="adj" fmla="val 16000"/>
            </a:avLst>
          </a:prstGeom>
          <a:solidFill>
            <a:srgbClr val="FBFCFE"/>
          </a:solidFill>
          <a:ln w="9525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031319" y="6163056"/>
            <a:ext cx="91215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F4E79"/>
                </a:solidFill>
                <a:latin typeface="Microsoft YaHei"/>
              </a:rPr>
              <a:t>缠膜机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016626" y="6163056"/>
            <a:ext cx="912155" cy="292608"/>
          </a:xfrm>
          <a:prstGeom prst="roundRect">
            <a:avLst>
              <a:gd name="adj" fmla="val 16000"/>
            </a:avLst>
          </a:prstGeom>
          <a:solidFill>
            <a:srgbClr val="FBFCFE"/>
          </a:solidFill>
          <a:ln w="9525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016626" y="6163056"/>
            <a:ext cx="91215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F4E79"/>
                </a:solidFill>
                <a:latin typeface="Microsoft YaHei"/>
              </a:rPr>
              <a:t>堆垛机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001934" y="6163056"/>
            <a:ext cx="912155" cy="292608"/>
          </a:xfrm>
          <a:prstGeom prst="roundRect">
            <a:avLst>
              <a:gd name="adj" fmla="val 16000"/>
            </a:avLst>
          </a:prstGeom>
          <a:solidFill>
            <a:srgbClr val="FBFCFE"/>
          </a:solidFill>
          <a:ln w="9525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001934" y="6163056"/>
            <a:ext cx="91215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F4E79"/>
                </a:solidFill>
                <a:latin typeface="Microsoft YaHei"/>
              </a:rPr>
              <a:t>四向车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987241" y="6163056"/>
            <a:ext cx="912155" cy="292608"/>
          </a:xfrm>
          <a:prstGeom prst="roundRect">
            <a:avLst>
              <a:gd name="adj" fmla="val 16000"/>
            </a:avLst>
          </a:prstGeom>
          <a:solidFill>
            <a:srgbClr val="FBFCFE"/>
          </a:solidFill>
          <a:ln w="9525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987241" y="6163056"/>
            <a:ext cx="91215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F4E79"/>
                </a:solidFill>
                <a:latin typeface="Microsoft YaHei"/>
              </a:rPr>
              <a:t>AGV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972549" y="6163056"/>
            <a:ext cx="912155" cy="292608"/>
          </a:xfrm>
          <a:prstGeom prst="roundRect">
            <a:avLst>
              <a:gd name="adj" fmla="val 16000"/>
            </a:avLst>
          </a:prstGeom>
          <a:solidFill>
            <a:srgbClr val="FBFCFE"/>
          </a:solidFill>
          <a:ln w="9525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972549" y="6163056"/>
            <a:ext cx="91215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F4E79"/>
                </a:solidFill>
                <a:latin typeface="Microsoft YaHei"/>
              </a:rPr>
              <a:t>机器人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957856" y="6163056"/>
            <a:ext cx="912155" cy="292608"/>
          </a:xfrm>
          <a:prstGeom prst="roundRect">
            <a:avLst>
              <a:gd name="adj" fmla="val 16000"/>
            </a:avLst>
          </a:prstGeom>
          <a:solidFill>
            <a:srgbClr val="FBFCFE"/>
          </a:solidFill>
          <a:ln w="9525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957856" y="6163056"/>
            <a:ext cx="91215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F4E79"/>
                </a:solidFill>
                <a:latin typeface="Microsoft YaHei"/>
              </a:rPr>
              <a:t>工作站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8943164" y="6163056"/>
            <a:ext cx="912155" cy="292608"/>
          </a:xfrm>
          <a:prstGeom prst="roundRect">
            <a:avLst>
              <a:gd name="adj" fmla="val 16000"/>
            </a:avLst>
          </a:prstGeom>
          <a:solidFill>
            <a:srgbClr val="FBFCFE"/>
          </a:solidFill>
          <a:ln w="9525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943164" y="6163056"/>
            <a:ext cx="91215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F4E79"/>
                </a:solidFill>
                <a:latin typeface="Microsoft YaHei"/>
              </a:rPr>
              <a:t>提升机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9928472" y="6163056"/>
            <a:ext cx="912155" cy="292608"/>
          </a:xfrm>
          <a:prstGeom prst="roundRect">
            <a:avLst>
              <a:gd name="adj" fmla="val 16000"/>
            </a:avLst>
          </a:prstGeom>
          <a:solidFill>
            <a:srgbClr val="FBFCFE"/>
          </a:solidFill>
          <a:ln w="9525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928472" y="6163056"/>
            <a:ext cx="91215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F4E79"/>
                </a:solidFill>
                <a:latin typeface="Microsoft YaHei"/>
              </a:rPr>
              <a:t>无人叉车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0913779" y="6163056"/>
            <a:ext cx="912155" cy="292608"/>
          </a:xfrm>
          <a:prstGeom prst="roundRect">
            <a:avLst>
              <a:gd name="adj" fmla="val 16000"/>
            </a:avLst>
          </a:prstGeom>
          <a:solidFill>
            <a:srgbClr val="FBFCFE"/>
          </a:solidFill>
          <a:ln w="9525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0913779" y="6163056"/>
            <a:ext cx="91215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F4E79"/>
                </a:solidFill>
                <a:latin typeface="Microsoft YaHei"/>
              </a:rPr>
              <a:t>贴标机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74320" y="6601968"/>
            <a:ext cx="116430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A7A7A"/>
                </a:solidFill>
                <a:latin typeface="Microsoft YaHei"/>
              </a:rPr>
              <a:t>说明：wcs-core 以标准指令承接上行 WMS 指令并统一调度，按场景适配 / 厂商对接 / 调度策略下发执行；wcs-dashboard 独立采集、加工并展示运行数据，分别通过同步 / 异步通路与执行层交互。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