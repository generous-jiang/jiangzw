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46304"/>
            <a:ext cx="64008" cy="365760"/>
          </a:xfrm>
          <a:prstGeom prst="rect">
            <a:avLst/>
          </a:prstGeom>
          <a:solidFill>
            <a:srgbClr val="E3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9728"/>
            <a:ext cx="96926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262626"/>
                </a:solidFill>
                <a:latin typeface="Microsoft YaHei"/>
              </a:rPr>
              <a:t>全渠道仓库自动化接入 WCS · 产品方案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48640"/>
            <a:ext cx="1146017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A7A7A"/>
                </a:solidFill>
                <a:latin typeface="Microsoft YaHei"/>
              </a:rPr>
              <a:t>Flux WMS 与 WHC 自动化任务编排在上，自研 WCS 以标准指令集统一下发、按能力分层调度自动化设备；上下行交互均经 WCS 贯通衔接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77824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Microsoft YaHei"/>
              </a:rPr>
              <a:t>上游 · 多 WMS / WHC 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78992"/>
            <a:ext cx="2211567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9FB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52144"/>
            <a:ext cx="22115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4E79"/>
                </a:solidFill>
                <a:latin typeface="Microsoft YaHei"/>
              </a:rPr>
              <a:t>DC Flux WMS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402" y="1389888"/>
            <a:ext cx="1415403" cy="1645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32191" y="1078992"/>
            <a:ext cx="2211567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9FB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2191" y="1152144"/>
            <a:ext cx="22115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4E79"/>
                </a:solidFill>
                <a:latin typeface="Microsoft YaHei"/>
              </a:rPr>
              <a:t>FC Flux WMS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30274" y="1389888"/>
            <a:ext cx="1415403" cy="1645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90063" y="1078992"/>
            <a:ext cx="2211567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9FB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90063" y="1152144"/>
            <a:ext cx="22115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4E79"/>
                </a:solidFill>
                <a:latin typeface="Microsoft YaHei"/>
              </a:rPr>
              <a:t>City DC WMS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88145" y="1389888"/>
            <a:ext cx="1415403" cy="1645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47935" y="1078992"/>
            <a:ext cx="2211567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9FB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7935" y="1152144"/>
            <a:ext cx="22115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4E79"/>
                </a:solidFill>
                <a:latin typeface="Microsoft YaHei"/>
              </a:rPr>
              <a:t>门店 WMS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46017" y="1389888"/>
            <a:ext cx="1415403" cy="1645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05807" y="1078992"/>
            <a:ext cx="2211567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9FB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5807" y="1152144"/>
            <a:ext cx="221156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4E79"/>
                </a:solidFill>
                <a:latin typeface="Microsoft YaHei"/>
              </a:rPr>
              <a:t>云仓 WMS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3889" y="1389888"/>
            <a:ext cx="1415403" cy="1645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380103" y="1636775"/>
            <a:ext cx="0" cy="237744"/>
          </a:xfrm>
          <a:prstGeom prst="line">
            <a:avLst/>
          </a:prstGeom>
          <a:ln w="12700">
            <a:solidFill>
              <a:srgbClr val="8C9BB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37975" y="1636775"/>
            <a:ext cx="0" cy="237744"/>
          </a:xfrm>
          <a:prstGeom prst="line">
            <a:avLst/>
          </a:prstGeom>
          <a:ln w="12700">
            <a:solidFill>
              <a:srgbClr val="8C9BB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95847" y="1636775"/>
            <a:ext cx="0" cy="237744"/>
          </a:xfrm>
          <a:prstGeom prst="line">
            <a:avLst/>
          </a:prstGeom>
          <a:ln w="12700">
            <a:solidFill>
              <a:srgbClr val="8C9BB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53719" y="1636775"/>
            <a:ext cx="0" cy="237744"/>
          </a:xfrm>
          <a:prstGeom prst="line">
            <a:avLst/>
          </a:prstGeom>
          <a:ln w="12700">
            <a:solidFill>
              <a:srgbClr val="8C9BB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811591" y="1636775"/>
            <a:ext cx="0" cy="237744"/>
          </a:xfrm>
          <a:prstGeom prst="line">
            <a:avLst/>
          </a:prstGeom>
          <a:ln w="12700">
            <a:solidFill>
              <a:srgbClr val="8C9BB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85083" y="1627631"/>
            <a:ext cx="552891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A7A7A"/>
                </a:solidFill>
                <a:latin typeface="Microsoft YaHei"/>
              </a:rPr>
              <a:t>标准指令双向交互：下行指令 / 上行状态，统一经 WCS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1655063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Microsoft YaHei"/>
              </a:rPr>
              <a:t>WCS 平台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1874519"/>
            <a:ext cx="11643055" cy="3246120"/>
          </a:xfrm>
          <a:prstGeom prst="roundRect">
            <a:avLst>
              <a:gd name="adj" fmla="val 2000"/>
            </a:avLst>
          </a:prstGeom>
          <a:solidFill>
            <a:srgbClr val="FCFDFE"/>
          </a:solidFill>
          <a:ln w="12700">
            <a:solidFill>
              <a:srgbClr val="9FB7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0623" y="1993391"/>
            <a:ext cx="9091636" cy="475488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350" b="1">
                <a:solidFill>
                  <a:srgbClr val="FFFFFF"/>
                </a:solidFill>
                <a:latin typeface="Microsoft YaHei"/>
              </a:rPr>
              <a:t>WCS · 仓储自动化统一调度引擎</a:t>
            </a:r>
          </a:p>
          <a:p>
            <a:pPr algn="ctr"/>
            <a:r>
              <a:rPr sz="900">
                <a:solidFill>
                  <a:srgbClr val="CFE0F3"/>
                </a:solidFill>
                <a:latin typeface="Microsoft YaHei"/>
              </a:rPr>
              <a:t>标准指令协议：版本化管理 · 幂等重试 · 灰度发布 · 限流降级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3" y="2560320"/>
            <a:ext cx="90916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Microsoft YaHei"/>
              </a:rPr>
              <a:t>① 统一调度层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4900" y="2560320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A7A7A"/>
                </a:solidFill>
                <a:latin typeface="Microsoft YaHei"/>
              </a:rPr>
              <a:t>Scheduling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3" y="2770632"/>
            <a:ext cx="1488602" cy="409997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任务编排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多任务并行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41230" y="2770632"/>
            <a:ext cx="1488602" cy="409997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优先级调度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SLA分级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61837" y="2770632"/>
            <a:ext cx="1488602" cy="409997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路由分配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最优匹配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82444" y="2770632"/>
            <a:ext cx="1488602" cy="409997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限流降级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峰值保护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03051" y="2770632"/>
            <a:ext cx="1488602" cy="409997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异常熔断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失败重试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23658" y="2770632"/>
            <a:ext cx="1488602" cy="409997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执行监控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时效预警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3" y="3253781"/>
            <a:ext cx="90916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Microsoft YaHei"/>
              </a:rPr>
              <a:t>② 标准指令集层（核心）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4900" y="3253781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A7A7A"/>
                </a:solidFill>
                <a:latin typeface="Microsoft YaHei"/>
              </a:rPr>
              <a:t>Standard Instruction Set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3" y="3464093"/>
            <a:ext cx="1488602" cy="4061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商品信息指令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创建·修改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41230" y="3464093"/>
            <a:ext cx="1488602" cy="4061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收货指令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DWS称重·提码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61837" y="3464093"/>
            <a:ext cx="1488602" cy="4061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上架指令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存储·返回库位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82444" y="3464093"/>
            <a:ext cx="1488602" cy="4061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盘点指令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RFID·物理盘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03051" y="3464093"/>
            <a:ext cx="1488602" cy="4061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移库指令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存储·返回库位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23658" y="3464093"/>
            <a:ext cx="1488602" cy="4061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监控预警指令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过程跟踪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0623" y="3902202"/>
            <a:ext cx="1488602" cy="4061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容器信息指令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容器绑定·解绑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41230" y="3902202"/>
            <a:ext cx="1488602" cy="4061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波次指令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波次旗号·产能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61837" y="3902202"/>
            <a:ext cx="1488602" cy="4061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拣货指令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货架/货位/托盘到人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82444" y="3902202"/>
            <a:ext cx="1488602" cy="4061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分播指令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格口/订单/门店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03051" y="3902202"/>
            <a:ext cx="1488602" cy="4061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对账指令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存储·返回库位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23658" y="3902202"/>
            <a:ext cx="1488602" cy="406104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任务单看板指令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数据回传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3" y="4381458"/>
            <a:ext cx="90916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4E79"/>
                </a:solidFill>
                <a:latin typeface="Microsoft YaHei"/>
              </a:rPr>
              <a:t>③ 设备能力适配层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4900" y="4381458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A7A7A"/>
                </a:solidFill>
                <a:latin typeface="Microsoft YaHei"/>
              </a:rPr>
              <a:t>Capability Adapter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0623" y="4591770"/>
            <a:ext cx="1792724" cy="409997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货架到人适配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PopPick类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245352" y="4591770"/>
            <a:ext cx="1792724" cy="409997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料箱到人适配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Shuttle类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070080" y="4591770"/>
            <a:ext cx="1792724" cy="409997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托盘到人适配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高位密存类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94808" y="4591770"/>
            <a:ext cx="1792724" cy="409997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分拣机器人适配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柔性分拣类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19536" y="4591770"/>
            <a:ext cx="1792724" cy="409997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 lIns="25400" rIns="25400"/>
          <a:lstStyle/>
          <a:p>
            <a:pPr algn="ctr"/>
            <a:r>
              <a:rPr sz="950" b="1">
                <a:solidFill>
                  <a:srgbClr val="262626"/>
                </a:solidFill>
                <a:latin typeface="Microsoft YaHei"/>
              </a:rPr>
              <a:t>通用设备适配</a:t>
            </a:r>
          </a:p>
          <a:p>
            <a:pPr algn="ctr"/>
            <a:r>
              <a:rPr sz="800">
                <a:solidFill>
                  <a:srgbClr val="7A7A7A"/>
                </a:solidFill>
                <a:latin typeface="Microsoft YaHei"/>
              </a:rPr>
              <a:t>AGV/RGV/输送线/机器人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76852" y="1655063"/>
            <a:ext cx="238682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Microsoft YaHei"/>
              </a:rPr>
              <a:t>看板平台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76852" y="1993391"/>
            <a:ext cx="2386826" cy="3008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9FB7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04868" y="2084831"/>
            <a:ext cx="213079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Microsoft YaHei"/>
              </a:rPr>
              <a:t>可视化平台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23156" y="2414015"/>
            <a:ext cx="2112506" cy="2786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62626"/>
                </a:solidFill>
                <a:latin typeface="Microsoft YaHei"/>
              </a:rPr>
              <a:t>全仓任务看板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3156" y="2667304"/>
            <a:ext cx="2112506" cy="227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A7A7A"/>
                </a:solidFill>
                <a:latin typeface="Microsoft YaHei"/>
              </a:rPr>
              <a:t>全仓任务 · 看板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04868" y="2902305"/>
            <a:ext cx="2130794" cy="10972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23156" y="2920593"/>
            <a:ext cx="2112506" cy="2786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62626"/>
                </a:solidFill>
                <a:latin typeface="Microsoft YaHei"/>
              </a:rPr>
              <a:t>自动化区域监控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3156" y="3173882"/>
            <a:ext cx="2112506" cy="227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A7A7A"/>
                </a:solidFill>
                <a:latin typeface="Microsoft YaHei"/>
              </a:rPr>
              <a:t>自动化区任务监控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04868" y="3408883"/>
            <a:ext cx="2130794" cy="10972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23156" y="3427171"/>
            <a:ext cx="2112506" cy="2786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62626"/>
                </a:solidFill>
                <a:latin typeface="Microsoft YaHei"/>
              </a:rPr>
              <a:t>指令执行看板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23156" y="3680460"/>
            <a:ext cx="2112506" cy="227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A7A7A"/>
                </a:solidFill>
                <a:latin typeface="Microsoft YaHei"/>
              </a:rPr>
              <a:t>指令时效 · 成功率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04868" y="3915460"/>
            <a:ext cx="2130794" cy="10972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23156" y="3933748"/>
            <a:ext cx="2112506" cy="2786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62626"/>
                </a:solidFill>
                <a:latin typeface="Microsoft YaHei"/>
              </a:rPr>
              <a:t>异常工单看板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23156" y="4187037"/>
            <a:ext cx="2112506" cy="227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A7A7A"/>
                </a:solidFill>
                <a:latin typeface="Microsoft YaHei"/>
              </a:rPr>
              <a:t>异常 / 重试 / 告警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04868" y="4422038"/>
            <a:ext cx="2130794" cy="10972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23156" y="4440326"/>
            <a:ext cx="2112506" cy="2786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62626"/>
                </a:solidFill>
                <a:latin typeface="Microsoft YaHei"/>
              </a:rPr>
              <a:t>数字孪生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3156" y="4693615"/>
            <a:ext cx="2112506" cy="227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A7A7A"/>
                </a:solidFill>
                <a:latin typeface="Microsoft YaHei"/>
              </a:rPr>
              <a:t>仓内全要素映射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380103" y="5148072"/>
            <a:ext cx="0" cy="256032"/>
          </a:xfrm>
          <a:prstGeom prst="line">
            <a:avLst/>
          </a:prstGeom>
          <a:ln w="12700">
            <a:solidFill>
              <a:srgbClr val="8C9BB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737975" y="5148072"/>
            <a:ext cx="0" cy="256032"/>
          </a:xfrm>
          <a:prstGeom prst="line">
            <a:avLst/>
          </a:prstGeom>
          <a:ln w="12700">
            <a:solidFill>
              <a:srgbClr val="8C9BB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095847" y="5148072"/>
            <a:ext cx="0" cy="256032"/>
          </a:xfrm>
          <a:prstGeom prst="line">
            <a:avLst/>
          </a:prstGeom>
          <a:ln w="12700">
            <a:solidFill>
              <a:srgbClr val="8C9BB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453719" y="5148072"/>
            <a:ext cx="0" cy="256032"/>
          </a:xfrm>
          <a:prstGeom prst="line">
            <a:avLst/>
          </a:prstGeom>
          <a:ln w="12700">
            <a:solidFill>
              <a:srgbClr val="8C9BB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811591" y="5148072"/>
            <a:ext cx="0" cy="256032"/>
          </a:xfrm>
          <a:prstGeom prst="line">
            <a:avLst/>
          </a:prstGeom>
          <a:ln w="12700">
            <a:solidFill>
              <a:srgbClr val="8C9BB3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853348" y="5138928"/>
            <a:ext cx="619238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7A7A7A"/>
                </a:solidFill>
                <a:latin typeface="Microsoft YaHei"/>
              </a:rPr>
              <a:t>标准指令下发 / 执行状态上报，统一经 WCS 适配对接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4320" y="518464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Microsoft YaHei"/>
              </a:rPr>
              <a:t>下游 · 自动化供应商系统（按能力适配接入，可扩展）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74320" y="5404104"/>
            <a:ext cx="2211567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7472" y="5468112"/>
            <a:ext cx="20652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Microsoft YaHei"/>
              </a:rPr>
              <a:t>WCS1 · 货架到人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72402" y="5678424"/>
            <a:ext cx="1415403" cy="13716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47472" y="5733288"/>
            <a:ext cx="206526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7A7A7A"/>
                </a:solidFill>
                <a:latin typeface="Microsoft YaHei"/>
              </a:rPr>
              <a:t>PopPick · 全品类订单单行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632191" y="5404104"/>
            <a:ext cx="2211567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05343" y="5468112"/>
            <a:ext cx="20652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Microsoft YaHei"/>
              </a:rPr>
              <a:t>WCS2 · 料箱到人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030274" y="5678424"/>
            <a:ext cx="1415403" cy="13716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05343" y="5733288"/>
            <a:ext cx="206526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7A7A7A"/>
                </a:solidFill>
                <a:latin typeface="Microsoft YaHei"/>
              </a:rPr>
              <a:t>RoboShuttle · 高密垂直存储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990063" y="5404104"/>
            <a:ext cx="2211567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63215" y="5468112"/>
            <a:ext cx="20652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Microsoft YaHei"/>
              </a:rPr>
              <a:t>WCS3 · 料箱到人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388145" y="5678424"/>
            <a:ext cx="1415403" cy="13716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63215" y="5733288"/>
            <a:ext cx="206526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7A7A7A"/>
                </a:solidFill>
                <a:latin typeface="Microsoft YaHei"/>
              </a:rPr>
              <a:t>闪擎 · 高效拣选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347935" y="5404104"/>
            <a:ext cx="2211567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421087" y="5468112"/>
            <a:ext cx="20652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Microsoft YaHei"/>
              </a:rPr>
              <a:t>WCS4 · 托盘到人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46017" y="5678424"/>
            <a:ext cx="1415403" cy="13716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421087" y="5733288"/>
            <a:ext cx="206526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7A7A7A"/>
                </a:solidFill>
                <a:latin typeface="Microsoft YaHei"/>
              </a:rPr>
              <a:t>上架/下拣 · 高密存储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705807" y="5404104"/>
            <a:ext cx="2211567" cy="6766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78959" y="5468112"/>
            <a:ext cx="20652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Microsoft YaHei"/>
              </a:rPr>
              <a:t>WCS N · 分拣机器人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103889" y="5678424"/>
            <a:ext cx="1415403" cy="13716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78959" y="5733288"/>
            <a:ext cx="206526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7A7A7A"/>
                </a:solidFill>
                <a:latin typeface="Microsoft YaHei"/>
              </a:rPr>
              <a:t>柔性分拣 · 可横向扩展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74320" y="6153912"/>
            <a:ext cx="1008583" cy="237744"/>
          </a:xfrm>
          <a:prstGeom prst="roundRect">
            <a:avLst>
              <a:gd name="adj" fmla="val 18000"/>
            </a:avLst>
          </a:prstGeom>
          <a:solidFill>
            <a:srgbClr val="F5F6F7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74320" y="6153912"/>
            <a:ext cx="100858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icrosoft YaHei"/>
              </a:rPr>
              <a:t>输送机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337767" y="6153912"/>
            <a:ext cx="1008583" cy="237744"/>
          </a:xfrm>
          <a:prstGeom prst="roundRect">
            <a:avLst>
              <a:gd name="adj" fmla="val 18000"/>
            </a:avLst>
          </a:prstGeom>
          <a:solidFill>
            <a:srgbClr val="F5F6F7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337767" y="6153912"/>
            <a:ext cx="100858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icrosoft YaHei"/>
              </a:rPr>
              <a:t>外形检测机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401214" y="6153912"/>
            <a:ext cx="1008583" cy="237744"/>
          </a:xfrm>
          <a:prstGeom prst="roundRect">
            <a:avLst>
              <a:gd name="adj" fmla="val 18000"/>
            </a:avLst>
          </a:prstGeom>
          <a:solidFill>
            <a:srgbClr val="F5F6F7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401214" y="6153912"/>
            <a:ext cx="100858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icrosoft YaHei"/>
              </a:rPr>
              <a:t>缠膜机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464661" y="6153912"/>
            <a:ext cx="1008583" cy="237744"/>
          </a:xfrm>
          <a:prstGeom prst="roundRect">
            <a:avLst>
              <a:gd name="adj" fmla="val 18000"/>
            </a:avLst>
          </a:prstGeom>
          <a:solidFill>
            <a:srgbClr val="F5F6F7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464661" y="6153912"/>
            <a:ext cx="100858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icrosoft YaHei"/>
              </a:rPr>
              <a:t>堆垛机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528108" y="6153912"/>
            <a:ext cx="1008583" cy="237744"/>
          </a:xfrm>
          <a:prstGeom prst="roundRect">
            <a:avLst>
              <a:gd name="adj" fmla="val 18000"/>
            </a:avLst>
          </a:prstGeom>
          <a:solidFill>
            <a:srgbClr val="F5F6F7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528108" y="6153912"/>
            <a:ext cx="100858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icrosoft YaHei"/>
              </a:rPr>
              <a:t>四向车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591556" y="6153912"/>
            <a:ext cx="1008583" cy="237744"/>
          </a:xfrm>
          <a:prstGeom prst="roundRect">
            <a:avLst>
              <a:gd name="adj" fmla="val 18000"/>
            </a:avLst>
          </a:prstGeom>
          <a:solidFill>
            <a:srgbClr val="F5F6F7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591556" y="6153912"/>
            <a:ext cx="100858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icrosoft YaHei"/>
              </a:rPr>
              <a:t>AGV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655003" y="6153912"/>
            <a:ext cx="1008583" cy="237744"/>
          </a:xfrm>
          <a:prstGeom prst="roundRect">
            <a:avLst>
              <a:gd name="adj" fmla="val 18000"/>
            </a:avLst>
          </a:prstGeom>
          <a:solidFill>
            <a:srgbClr val="F5F6F7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655003" y="6153912"/>
            <a:ext cx="100858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icrosoft YaHei"/>
              </a:rPr>
              <a:t>机器人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718450" y="6153912"/>
            <a:ext cx="1008583" cy="237744"/>
          </a:xfrm>
          <a:prstGeom prst="roundRect">
            <a:avLst>
              <a:gd name="adj" fmla="val 18000"/>
            </a:avLst>
          </a:prstGeom>
          <a:solidFill>
            <a:srgbClr val="F5F6F7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718450" y="6153912"/>
            <a:ext cx="100858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icrosoft YaHei"/>
              </a:rPr>
              <a:t>工作站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781897" y="6153912"/>
            <a:ext cx="1008583" cy="237744"/>
          </a:xfrm>
          <a:prstGeom prst="roundRect">
            <a:avLst>
              <a:gd name="adj" fmla="val 18000"/>
            </a:avLst>
          </a:prstGeom>
          <a:solidFill>
            <a:srgbClr val="F5F6F7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781897" y="6153912"/>
            <a:ext cx="100858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icrosoft YaHei"/>
              </a:rPr>
              <a:t>提升机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845344" y="6153912"/>
            <a:ext cx="1008583" cy="237744"/>
          </a:xfrm>
          <a:prstGeom prst="roundRect">
            <a:avLst>
              <a:gd name="adj" fmla="val 18000"/>
            </a:avLst>
          </a:prstGeom>
          <a:solidFill>
            <a:srgbClr val="F5F6F7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845344" y="6153912"/>
            <a:ext cx="100858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icrosoft YaHei"/>
              </a:rPr>
              <a:t>无人叉车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908792" y="6153912"/>
            <a:ext cx="1008583" cy="237744"/>
          </a:xfrm>
          <a:prstGeom prst="roundRect">
            <a:avLst>
              <a:gd name="adj" fmla="val 18000"/>
            </a:avLst>
          </a:prstGeom>
          <a:solidFill>
            <a:srgbClr val="F5F6F7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908792" y="6153912"/>
            <a:ext cx="100858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icrosoft YaHei"/>
              </a:rPr>
              <a:t>贴标机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74320" y="6464808"/>
            <a:ext cx="116430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Microsoft YaHei"/>
              </a:rPr>
              <a:t>说明：WMS 与自动化供应商系统之间不直连，全部通过 WCS 标准指令集完成上下行交互；自研 WCS 承担调度引擎、指令协议与能力适配的核心职责，供应商系统作为可插拔执行层，按统一适配规范接入、可横向扩展替换。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