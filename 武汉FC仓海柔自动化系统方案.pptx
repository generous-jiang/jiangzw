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74320"/>
            <a:ext cx="82296" cy="365760"/>
          </a:xfrm>
          <a:prstGeom prst="rect">
            <a:avLst/>
          </a:prstGeom>
          <a:solidFill>
            <a:srgbClr val="D7382E"/>
          </a:solidFill>
          <a:ln/>
        </p:spPr>
      </p:sp>
      <p:sp>
        <p:nvSpPr>
          <p:cNvPr id="3" name="Text 1"/>
          <p:cNvSpPr/>
          <p:nvPr/>
        </p:nvSpPr>
        <p:spPr>
          <a:xfrm>
            <a:off x="475488" y="237744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武汉 FC 仓 · 海柔自动化系统方案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676656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FC WMS → 自研 WCS → 海柔闪攀（料箱到人）　·　全渠道仓库自动化总体框架在武汉 FC 仓的一次落地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10896" y="923544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27628D"/>
          </a:solidFill>
          <a:ln/>
        </p:spPr>
      </p:sp>
      <p:sp>
        <p:nvSpPr>
          <p:cNvPr id="6" name="Text 4"/>
          <p:cNvSpPr/>
          <p:nvPr/>
        </p:nvSpPr>
        <p:spPr>
          <a:xfrm>
            <a:off x="512064" y="89611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上游业务系统 · FC WMS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22792" y="89611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A9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· WMS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10896" y="1060704"/>
            <a:ext cx="373380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DD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097280"/>
            <a:ext cx="373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FC Flux WMS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" y="1280160"/>
            <a:ext cx="3733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沃尔玛 FC 仓库管理系统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27576" y="1060704"/>
            <a:ext cx="373380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DD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27576" y="1097280"/>
            <a:ext cx="373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WHC · 自动化任务编排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27576" y="1280160"/>
            <a:ext cx="3733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上游任务统一编排 · 下发 / 回传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144256" y="1060704"/>
            <a:ext cx="373380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DD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4256" y="1097280"/>
            <a:ext cx="373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对接接口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44256" y="1280160"/>
            <a:ext cx="3733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REST API · JSON/UTF-8 · 17 个接口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377440" y="1517904"/>
            <a:ext cx="7406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标准指令双向交互：下行指令 / 上行状态，统一经 WCS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77796" y="1645920"/>
            <a:ext cx="0" cy="100584"/>
          </a:xfrm>
          <a:prstGeom prst="line">
            <a:avLst/>
          </a:prstGeom>
          <a:noFill/>
          <a:ln w="12700">
            <a:solidFill>
              <a:srgbClr val="27628D"/>
            </a:solidFill>
            <a:prstDash val="solid"/>
            <a:headEnd type="triangl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94476" y="1645920"/>
            <a:ext cx="0" cy="100584"/>
          </a:xfrm>
          <a:prstGeom prst="line">
            <a:avLst/>
          </a:prstGeom>
          <a:noFill/>
          <a:ln w="12700">
            <a:solidFill>
              <a:srgbClr val="27628D"/>
            </a:solidFill>
            <a:prstDash val="solid"/>
            <a:headEnd type="triangl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11156" y="1645920"/>
            <a:ext cx="0" cy="100584"/>
          </a:xfrm>
          <a:prstGeom prst="line">
            <a:avLst/>
          </a:prstGeom>
          <a:noFill/>
          <a:ln w="12700">
            <a:solidFill>
              <a:srgbClr val="27628D"/>
            </a:solidFill>
            <a:prstDash val="solid"/>
            <a:headEnd type="triangl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10896" y="1773936"/>
            <a:ext cx="11567160" cy="2249424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AAC2D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57200" y="1847088"/>
            <a:ext cx="11274552" cy="402336"/>
          </a:xfrm>
          <a:prstGeom prst="roundRect">
            <a:avLst>
              <a:gd name="adj" fmla="val 11364"/>
            </a:avLst>
          </a:prstGeom>
          <a:solidFill>
            <a:srgbClr val="27628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1883664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 · 仓储自动化统一调度引擎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2075688"/>
            <a:ext cx="11274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FE0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标准指令协议 · 版本化管理 · 幂等重试 · 灰度发布 · 限流降级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23042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62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 </a:t>
            </a:r>
            <a:pPr algn="l" indent="0" marL="0">
              <a:buNone/>
            </a:pPr>
            <a:r>
              <a:rPr lang="en-US" sz="1000" b="1" dirty="0">
                <a:solidFill>
                  <a:srgbClr val="334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统一调度层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05672" y="23042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A9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2468880"/>
            <a:ext cx="1802892" cy="310896"/>
          </a:xfrm>
          <a:prstGeom prst="roundRect">
            <a:avLst>
              <a:gd name="adj" fmla="val 8824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514600"/>
            <a:ext cx="18028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任务编排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2587752"/>
            <a:ext cx="18028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多任务并行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2351532" y="2468880"/>
            <a:ext cx="1802892" cy="310896"/>
          </a:xfrm>
          <a:prstGeom prst="roundRect">
            <a:avLst>
              <a:gd name="adj" fmla="val 8824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51532" y="2514600"/>
            <a:ext cx="18028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优先级调度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351532" y="2587752"/>
            <a:ext cx="18028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 分级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4245864" y="2468880"/>
            <a:ext cx="1802892" cy="310896"/>
          </a:xfrm>
          <a:prstGeom prst="roundRect">
            <a:avLst>
              <a:gd name="adj" fmla="val 8824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45864" y="2514600"/>
            <a:ext cx="18028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路由分配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45864" y="2587752"/>
            <a:ext cx="18028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最优匹配</a:t>
            </a:r>
            <a:endParaRPr lang="en-US" sz="730" dirty="0"/>
          </a:p>
        </p:txBody>
      </p:sp>
      <p:sp>
        <p:nvSpPr>
          <p:cNvPr id="36" name="Shape 34"/>
          <p:cNvSpPr/>
          <p:nvPr/>
        </p:nvSpPr>
        <p:spPr>
          <a:xfrm>
            <a:off x="6140196" y="2468880"/>
            <a:ext cx="1802892" cy="310896"/>
          </a:xfrm>
          <a:prstGeom prst="roundRect">
            <a:avLst>
              <a:gd name="adj" fmla="val 8824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40196" y="2514600"/>
            <a:ext cx="18028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限流降级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40196" y="2587752"/>
            <a:ext cx="18028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峰值保护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8034528" y="2468880"/>
            <a:ext cx="1802892" cy="310896"/>
          </a:xfrm>
          <a:prstGeom prst="roundRect">
            <a:avLst>
              <a:gd name="adj" fmla="val 8824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34528" y="2514600"/>
            <a:ext cx="18028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异常熔断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34528" y="2587752"/>
            <a:ext cx="18028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失败重试</a:t>
            </a:r>
            <a:endParaRPr lang="en-US" sz="730" dirty="0"/>
          </a:p>
        </p:txBody>
      </p:sp>
      <p:sp>
        <p:nvSpPr>
          <p:cNvPr id="42" name="Shape 40"/>
          <p:cNvSpPr/>
          <p:nvPr/>
        </p:nvSpPr>
        <p:spPr>
          <a:xfrm>
            <a:off x="9928860" y="2468880"/>
            <a:ext cx="1802892" cy="310896"/>
          </a:xfrm>
          <a:prstGeom prst="roundRect">
            <a:avLst>
              <a:gd name="adj" fmla="val 8824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928860" y="2514600"/>
            <a:ext cx="18028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执行监控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928860" y="2587752"/>
            <a:ext cx="18028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时效预警</a:t>
            </a:r>
            <a:endParaRPr lang="en-US" sz="730" dirty="0"/>
          </a:p>
        </p:txBody>
      </p:sp>
      <p:sp>
        <p:nvSpPr>
          <p:cNvPr id="45" name="Text 43"/>
          <p:cNvSpPr/>
          <p:nvPr/>
        </p:nvSpPr>
        <p:spPr>
          <a:xfrm>
            <a:off x="457200" y="283464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62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 </a:t>
            </a:r>
            <a:pPr algn="l" indent="0" marL="0">
              <a:buNone/>
            </a:pPr>
            <a:r>
              <a:rPr lang="en-US" sz="1000" b="1" dirty="0">
                <a:solidFill>
                  <a:srgbClr val="334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标准指令集（本仓启用）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805672" y="28346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A9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Instruction Set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2999232"/>
            <a:ext cx="1329309" cy="310896"/>
          </a:xfrm>
          <a:prstGeom prst="roundRect">
            <a:avLst>
              <a:gd name="adj" fmla="val 8824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044952"/>
            <a:ext cx="132930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收货指令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3118104"/>
            <a:ext cx="132930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DWS 称重</a:t>
            </a:r>
            <a:endParaRPr lang="en-US" sz="730" dirty="0"/>
          </a:p>
        </p:txBody>
      </p:sp>
      <p:sp>
        <p:nvSpPr>
          <p:cNvPr id="50" name="Shape 48"/>
          <p:cNvSpPr/>
          <p:nvPr/>
        </p:nvSpPr>
        <p:spPr>
          <a:xfrm>
            <a:off x="1877949" y="2999232"/>
            <a:ext cx="1329309" cy="310896"/>
          </a:xfrm>
          <a:prstGeom prst="roundRect">
            <a:avLst>
              <a:gd name="adj" fmla="val 8824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77949" y="3044952"/>
            <a:ext cx="132930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上架指令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877949" y="3118104"/>
            <a:ext cx="132930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返回库位</a:t>
            </a:r>
            <a:endParaRPr lang="en-US" sz="730" dirty="0"/>
          </a:p>
        </p:txBody>
      </p:sp>
      <p:sp>
        <p:nvSpPr>
          <p:cNvPr id="53" name="Shape 51"/>
          <p:cNvSpPr/>
          <p:nvPr/>
        </p:nvSpPr>
        <p:spPr>
          <a:xfrm>
            <a:off x="3298698" y="2999232"/>
            <a:ext cx="1329309" cy="310896"/>
          </a:xfrm>
          <a:prstGeom prst="roundRect">
            <a:avLst>
              <a:gd name="adj" fmla="val 8824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98698" y="3044952"/>
            <a:ext cx="132930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拣货指令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298698" y="3118104"/>
            <a:ext cx="132930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货箱到人</a:t>
            </a:r>
            <a:endParaRPr lang="en-US" sz="730" dirty="0"/>
          </a:p>
        </p:txBody>
      </p:sp>
      <p:sp>
        <p:nvSpPr>
          <p:cNvPr id="56" name="Shape 54"/>
          <p:cNvSpPr/>
          <p:nvPr/>
        </p:nvSpPr>
        <p:spPr>
          <a:xfrm>
            <a:off x="4719447" y="2999232"/>
            <a:ext cx="1329309" cy="310896"/>
          </a:xfrm>
          <a:prstGeom prst="roundRect">
            <a:avLst>
              <a:gd name="adj" fmla="val 8824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9447" y="3044952"/>
            <a:ext cx="132930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分播指令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719447" y="3118104"/>
            <a:ext cx="132930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格口/门店</a:t>
            </a:r>
            <a:endParaRPr lang="en-US" sz="730" dirty="0"/>
          </a:p>
        </p:txBody>
      </p:sp>
      <p:sp>
        <p:nvSpPr>
          <p:cNvPr id="59" name="Shape 57"/>
          <p:cNvSpPr/>
          <p:nvPr/>
        </p:nvSpPr>
        <p:spPr>
          <a:xfrm>
            <a:off x="6140196" y="2999232"/>
            <a:ext cx="1329309" cy="310896"/>
          </a:xfrm>
          <a:prstGeom prst="roundRect">
            <a:avLst>
              <a:gd name="adj" fmla="val 8824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40196" y="3044952"/>
            <a:ext cx="132930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盘点指令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140196" y="3118104"/>
            <a:ext cx="132930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RFID·物理盘</a:t>
            </a:r>
            <a:endParaRPr lang="en-US" sz="730" dirty="0"/>
          </a:p>
        </p:txBody>
      </p:sp>
      <p:sp>
        <p:nvSpPr>
          <p:cNvPr id="62" name="Shape 60"/>
          <p:cNvSpPr/>
          <p:nvPr/>
        </p:nvSpPr>
        <p:spPr>
          <a:xfrm>
            <a:off x="7560945" y="2999232"/>
            <a:ext cx="1329309" cy="310896"/>
          </a:xfrm>
          <a:prstGeom prst="roundRect">
            <a:avLst>
              <a:gd name="adj" fmla="val 8824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60945" y="3044952"/>
            <a:ext cx="132930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移库指令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560945" y="3118104"/>
            <a:ext cx="132930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库位调整</a:t>
            </a:r>
            <a:endParaRPr lang="en-US" sz="730" dirty="0"/>
          </a:p>
        </p:txBody>
      </p:sp>
      <p:sp>
        <p:nvSpPr>
          <p:cNvPr id="65" name="Shape 63"/>
          <p:cNvSpPr/>
          <p:nvPr/>
        </p:nvSpPr>
        <p:spPr>
          <a:xfrm>
            <a:off x="8981694" y="2999232"/>
            <a:ext cx="1329309" cy="310896"/>
          </a:xfrm>
          <a:prstGeom prst="roundRect">
            <a:avLst>
              <a:gd name="adj" fmla="val 8824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981694" y="3044952"/>
            <a:ext cx="132930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波次指令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981694" y="3118104"/>
            <a:ext cx="132930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锁号·产能</a:t>
            </a:r>
            <a:endParaRPr lang="en-US" sz="730" dirty="0"/>
          </a:p>
        </p:txBody>
      </p:sp>
      <p:sp>
        <p:nvSpPr>
          <p:cNvPr id="68" name="Shape 66"/>
          <p:cNvSpPr/>
          <p:nvPr/>
        </p:nvSpPr>
        <p:spPr>
          <a:xfrm>
            <a:off x="10402443" y="2999232"/>
            <a:ext cx="1329309" cy="310896"/>
          </a:xfrm>
          <a:prstGeom prst="roundRect">
            <a:avLst>
              <a:gd name="adj" fmla="val 8824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402443" y="3044952"/>
            <a:ext cx="132930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对账指令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0402443" y="3118104"/>
            <a:ext cx="132930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库存核对</a:t>
            </a:r>
            <a:endParaRPr lang="en-US" sz="730" dirty="0"/>
          </a:p>
        </p:txBody>
      </p:sp>
      <p:sp>
        <p:nvSpPr>
          <p:cNvPr id="71" name="Text 69"/>
          <p:cNvSpPr/>
          <p:nvPr/>
        </p:nvSpPr>
        <p:spPr>
          <a:xfrm>
            <a:off x="457200" y="33649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62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 </a:t>
            </a:r>
            <a:pPr algn="l" indent="0" marL="0">
              <a:buNone/>
            </a:pPr>
            <a:r>
              <a:rPr lang="en-US" sz="1000" b="1" dirty="0">
                <a:solidFill>
                  <a:srgbClr val="334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设备能力适配层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805672" y="33649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A9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Adapter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57200" y="3529584"/>
            <a:ext cx="2181758" cy="365760"/>
          </a:xfrm>
          <a:prstGeom prst="roundRect">
            <a:avLst>
              <a:gd name="adj" fmla="val 7500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7200" y="3575304"/>
            <a:ext cx="21817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货架到人适配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457200" y="3703320"/>
            <a:ext cx="218175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PopPick 类</a:t>
            </a:r>
            <a:endParaRPr lang="en-US" sz="730" dirty="0"/>
          </a:p>
        </p:txBody>
      </p:sp>
      <p:sp>
        <p:nvSpPr>
          <p:cNvPr id="76" name="Shape 74"/>
          <p:cNvSpPr/>
          <p:nvPr/>
        </p:nvSpPr>
        <p:spPr>
          <a:xfrm>
            <a:off x="2730398" y="3529584"/>
            <a:ext cx="2181758" cy="365760"/>
          </a:xfrm>
          <a:prstGeom prst="roundRect">
            <a:avLst>
              <a:gd name="adj" fmla="val 7500"/>
            </a:avLst>
          </a:prstGeom>
          <a:solidFill>
            <a:srgbClr val="FCF3F2"/>
          </a:solidFill>
          <a:ln w="12700">
            <a:solidFill>
              <a:srgbClr val="D7382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30398" y="3575304"/>
            <a:ext cx="21817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73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料箱到人适配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2730398" y="3703320"/>
            <a:ext cx="218175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D73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Shuttle 类 · 闪攀</a:t>
            </a:r>
            <a:endParaRPr lang="en-US" sz="730" dirty="0"/>
          </a:p>
        </p:txBody>
      </p:sp>
      <p:sp>
        <p:nvSpPr>
          <p:cNvPr id="79" name="Shape 77"/>
          <p:cNvSpPr/>
          <p:nvPr/>
        </p:nvSpPr>
        <p:spPr>
          <a:xfrm>
            <a:off x="5003597" y="3529584"/>
            <a:ext cx="2181758" cy="365760"/>
          </a:xfrm>
          <a:prstGeom prst="roundRect">
            <a:avLst>
              <a:gd name="adj" fmla="val 7500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03597" y="3575304"/>
            <a:ext cx="21817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托盘到人适配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5003597" y="3703320"/>
            <a:ext cx="218175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高位密存类</a:t>
            </a:r>
            <a:endParaRPr lang="en-US" sz="730" dirty="0"/>
          </a:p>
        </p:txBody>
      </p:sp>
      <p:sp>
        <p:nvSpPr>
          <p:cNvPr id="82" name="Shape 80"/>
          <p:cNvSpPr/>
          <p:nvPr/>
        </p:nvSpPr>
        <p:spPr>
          <a:xfrm>
            <a:off x="7276795" y="3529584"/>
            <a:ext cx="2181758" cy="365760"/>
          </a:xfrm>
          <a:prstGeom prst="roundRect">
            <a:avLst>
              <a:gd name="adj" fmla="val 7500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276795" y="3575304"/>
            <a:ext cx="21817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分拣机器人适配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7276795" y="3703320"/>
            <a:ext cx="218175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柔性分拣类</a:t>
            </a:r>
            <a:endParaRPr lang="en-US" sz="730" dirty="0"/>
          </a:p>
        </p:txBody>
      </p:sp>
      <p:sp>
        <p:nvSpPr>
          <p:cNvPr id="85" name="Shape 83"/>
          <p:cNvSpPr/>
          <p:nvPr/>
        </p:nvSpPr>
        <p:spPr>
          <a:xfrm>
            <a:off x="9549994" y="3529584"/>
            <a:ext cx="2181758" cy="365760"/>
          </a:xfrm>
          <a:prstGeom prst="roundRect">
            <a:avLst>
              <a:gd name="adj" fmla="val 7500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549994" y="3575304"/>
            <a:ext cx="21817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通用设备适配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9549994" y="3703320"/>
            <a:ext cx="218175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AGV/RGV/输送线</a:t>
            </a:r>
            <a:endParaRPr lang="en-US" sz="730" dirty="0"/>
          </a:p>
        </p:txBody>
      </p:sp>
      <p:sp>
        <p:nvSpPr>
          <p:cNvPr id="88" name="Text 86"/>
          <p:cNvSpPr/>
          <p:nvPr/>
        </p:nvSpPr>
        <p:spPr>
          <a:xfrm>
            <a:off x="2743200" y="4078224"/>
            <a:ext cx="6675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经『料箱到人适配』下发标准指令 / 回传执行状态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2244852" y="4187952"/>
            <a:ext cx="0" cy="100584"/>
          </a:xfrm>
          <a:prstGeom prst="line">
            <a:avLst/>
          </a:prstGeom>
          <a:noFill/>
          <a:ln w="12700">
            <a:solidFill>
              <a:srgbClr val="D7382E"/>
            </a:solidFill>
            <a:prstDash val="solid"/>
            <a:headEnd type="triangle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6094476" y="4187952"/>
            <a:ext cx="0" cy="100584"/>
          </a:xfrm>
          <a:prstGeom prst="line">
            <a:avLst/>
          </a:prstGeom>
          <a:noFill/>
          <a:ln w="12700">
            <a:solidFill>
              <a:srgbClr val="D7382E"/>
            </a:solidFill>
            <a:prstDash val="solid"/>
            <a:headEnd type="triangle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9944100" y="4187952"/>
            <a:ext cx="0" cy="100584"/>
          </a:xfrm>
          <a:prstGeom prst="line">
            <a:avLst/>
          </a:prstGeom>
          <a:noFill/>
          <a:ln w="12700">
            <a:solidFill>
              <a:srgbClr val="D7382E"/>
            </a:solidFill>
            <a:prstDash val="solid"/>
            <a:headEnd type="triangle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310896" y="4315968"/>
            <a:ext cx="11567160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2700">
            <a:solidFill>
              <a:srgbClr val="AAC2D6"/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>
            <a:off x="457200" y="4389120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D7382E"/>
          </a:solidFill>
          <a:ln/>
        </p:spPr>
      </p:sp>
      <p:sp>
        <p:nvSpPr>
          <p:cNvPr id="94" name="Text 92"/>
          <p:cNvSpPr/>
          <p:nvPr/>
        </p:nvSpPr>
        <p:spPr>
          <a:xfrm>
            <a:off x="658368" y="436168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下游执行系统 · 海柔 闪攀</a:t>
            </a:r>
            <a:pPr algn="l" indent="0" marL="0">
              <a:buNone/>
            </a:pPr>
            <a:r>
              <a:rPr lang="en-US" sz="850" b="1" dirty="0">
                <a:solidFill>
                  <a:srgbClr val="D73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WCS3 · 料箱到人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8622792" y="436168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A9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ROBOTICS · EXECUTION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457200" y="4553712"/>
            <a:ext cx="3575304" cy="1481328"/>
          </a:xfrm>
          <a:prstGeom prst="roundRect">
            <a:avLst>
              <a:gd name="adj" fmla="val 2469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03504" y="4608576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海柔 HAIQ · 软件平台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603504" y="4809744"/>
            <a:ext cx="3300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8A9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/ HAIQ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621792" y="4992624"/>
            <a:ext cx="3264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WES 仓库执行系统：业务 / 库存 / 订单 / 工作站</a:t>
            </a:r>
            <a:endParaRPr lang="en-US" sz="86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ESS 设备调度系统：机器人 / 路径 / 充电调度</a:t>
            </a:r>
            <a:endParaRPr lang="en-US" sz="86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 数据平台：报表 / 预警 / 分析</a:t>
            </a:r>
            <a:endParaRPr lang="en-US" sz="86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可视化：全仓任务 · 指令执行 · 异常工单 · 数字孪生</a:t>
            </a:r>
            <a:endParaRPr lang="en-US" sz="860" dirty="0"/>
          </a:p>
        </p:txBody>
      </p:sp>
      <p:sp>
        <p:nvSpPr>
          <p:cNvPr id="100" name="Shape 98"/>
          <p:cNvSpPr/>
          <p:nvPr/>
        </p:nvSpPr>
        <p:spPr>
          <a:xfrm>
            <a:off x="4306824" y="4553712"/>
            <a:ext cx="3575304" cy="1481328"/>
          </a:xfrm>
          <a:prstGeom prst="roundRect">
            <a:avLst>
              <a:gd name="adj" fmla="val 2469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453128" y="4608576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设备资源 · ACR &amp; 充电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4453128" y="4809744"/>
            <a:ext cx="3300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8A9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4471416" y="4992624"/>
            <a:ext cx="3264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箱式机器人 A71-L-E1-H-CN ×150</a:t>
            </a:r>
            <a:endParaRPr lang="en-US" sz="86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导航方式：惯性 + 二维码</a:t>
            </a:r>
            <a:endParaRPr lang="en-US" sz="86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HRC-3000-E4-CN 智能充电桩 ×25</a:t>
            </a:r>
            <a:endParaRPr lang="en-US" sz="86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德玛输送线（Modbus）· 安全门</a:t>
            </a:r>
            <a:endParaRPr lang="en-US" sz="860" dirty="0"/>
          </a:p>
        </p:txBody>
      </p:sp>
      <p:sp>
        <p:nvSpPr>
          <p:cNvPr id="104" name="Shape 102"/>
          <p:cNvSpPr/>
          <p:nvPr/>
        </p:nvSpPr>
        <p:spPr>
          <a:xfrm>
            <a:off x="8156448" y="4553712"/>
            <a:ext cx="3575304" cy="1481328"/>
          </a:xfrm>
          <a:prstGeom prst="roundRect">
            <a:avLst>
              <a:gd name="adj" fmla="val 2469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302752" y="4608576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工作站 · 出入库作业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8302752" y="4809744"/>
            <a:ext cx="3300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8A9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WORKSTATIONS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8321040" y="4992624"/>
            <a:ext cx="3264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入库工作站 In_01~06（+异常 In_11）</a:t>
            </a:r>
            <a:endParaRPr lang="en-US" sz="86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入库取箱口 ×5（In_101/102/103/105/111）</a:t>
            </a:r>
            <a:endParaRPr lang="en-US" sz="86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人机直拣工作站 out_01~22</a:t>
            </a:r>
            <a:endParaRPr lang="en-US" sz="86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订单打包台 5 组×6 = 30 个 · 异常打包口 101/102</a:t>
            </a:r>
            <a:endParaRPr lang="en-US" sz="860" dirty="0"/>
          </a:p>
        </p:txBody>
      </p:sp>
      <p:sp>
        <p:nvSpPr>
          <p:cNvPr id="108" name="Text 106"/>
          <p:cNvSpPr/>
          <p:nvPr/>
        </p:nvSpPr>
        <p:spPr>
          <a:xfrm>
            <a:off x="310896" y="6236208"/>
            <a:ext cx="1156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A9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说明：FC WMS 不直连自动化设备，统一经自研 WCS 以标准指令集下发、按『料箱到人』能力适配调度海柔闪攀系统；本页为全渠道仓库自动化总体框架在武汉 FC 仓的一次落地实例。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武汉 FC 仓 · 海柔自动化系统方案</dc:title>
  <dc:subject>PptxGenJS Presentation</dc:subject>
  <dc:creator>WCS</dc:creator>
  <cp:lastModifiedBy>WCS</cp:lastModifiedBy>
  <cp:revision>1</cp:revision>
  <dcterms:created xsi:type="dcterms:W3CDTF">2026-06-24T13:35:33Z</dcterms:created>
  <dcterms:modified xsi:type="dcterms:W3CDTF">2026-06-24T13:35:33Z</dcterms:modified>
</cp:coreProperties>
</file>