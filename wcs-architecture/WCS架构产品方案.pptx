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46304"/>
            <a:ext cx="64008" cy="365760"/>
          </a:xfrm>
          <a:prstGeom prst="rect">
            <a:avLst/>
          </a:prstGeom>
          <a:solidFill>
            <a:srgbClr val="E3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09728"/>
            <a:ext cx="96926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62626"/>
                </a:solidFill>
                <a:latin typeface="Microsoft YaHei"/>
              </a:rPr>
              <a:t>全渠道仓库自动化接入 WCS · 产品方案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548640"/>
            <a:ext cx="1146017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7A7A"/>
                </a:solidFill>
                <a:latin typeface="Microsoft YaHei"/>
              </a:rPr>
              <a:t>Flux WMS 与 WHC 自动化任务编排在上，自研 WCS 以标准指令集统一下发、按能力分层调度自动化设备；上下行交互均经 WCS 贯通衔接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77824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上游 · 多 WMS / WHC 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DC Flux WMS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402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32191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2191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FC Flux WMS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30274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90063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0063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City DC WMS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88145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47935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7935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门店 WMS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46017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05807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5807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云仓 WMS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3889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380103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37975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95847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53719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811591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85083" y="1627631"/>
            <a:ext cx="55289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标准指令双向交互：下行指令 / 上行状态，统一经 WCS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1655063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WCS 平台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1874519"/>
            <a:ext cx="11643055" cy="3246120"/>
          </a:xfrm>
          <a:prstGeom prst="roundRect">
            <a:avLst>
              <a:gd name="adj" fmla="val 2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0623" y="1993391"/>
            <a:ext cx="9091636" cy="475488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/>
              </a:rPr>
              <a:t>WCS · 仓储自动化统一调度引擎</a:t>
            </a:r>
          </a:p>
          <a:p>
            <a:pPr algn="ctr"/>
            <a:r>
              <a:rPr sz="900">
                <a:solidFill>
                  <a:srgbClr val="CFE0F3"/>
                </a:solidFill>
                <a:latin typeface="Microsoft YaHei"/>
              </a:rPr>
              <a:t>标准指令协议：版本化管理 · 幂等重试 · 灰度发布 · 限流降级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3" y="2560320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① 统一调度层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4900" y="2560320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Scheduling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3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任务编排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多任务并行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41230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优先级调度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SLA分级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61837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路由分配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最优匹配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2444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限流降级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峰值保护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3051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异常熔断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失败重试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3658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执行监控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时效预警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3" y="3253781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② 标准指令集层（核心）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4900" y="3253781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Standard Instruction Set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0623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商品信息指令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创建·修改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41230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收货指令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DWS称重·提码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61837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上架指令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82444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盘点指令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RFID·物理盘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03051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移库指令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3658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监控预警指令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过程跟踪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0623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容器信息指令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容器绑定·解绑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41230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波次指令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波次旗号·产能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61837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拣货指令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货架/货位/托盘到人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82444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分播指令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格口/订单/门店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03051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对账指令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23658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任务单看板指令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数据回传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3" y="4381458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③ 设备能力适配层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4900" y="4381458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Capability Adapter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0623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货架到人适配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PopPick类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41230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料箱到人适配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Shuttle类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61837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托盘到人适配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高位密存类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82444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分拣机器人适配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柔性分拣类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03051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语音适配拣选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语音引导·免视觉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23658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通用设备适配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AGV/RGV/输送线/机器人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76852" y="1655063"/>
            <a:ext cx="23868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看板平台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76852" y="1993391"/>
            <a:ext cx="2386826" cy="3008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04868" y="2084831"/>
            <a:ext cx="21307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Microsoft YaHei"/>
              </a:rPr>
              <a:t>可视化平台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3156" y="2414015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全仓任务看板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23156" y="2667304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全仓任务 · 看板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04868" y="2902305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23156" y="2920593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自动化区域监控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23156" y="3173882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自动化区任务监控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04868" y="3408883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23156" y="3427171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指令执行看板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23156" y="3680460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指令时效 · 成功率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804868" y="3915460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823156" y="3933748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异常工单看板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3156" y="4187037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异常 / 重试 / 告警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04868" y="4422038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23156" y="4440326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数字孪生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3156" y="4693615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仓内全要素映射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380103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737975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09584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453719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0811591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2853348" y="5138928"/>
            <a:ext cx="619238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标准指令下发 / 执行状态上报，统一经 WCS 适配对接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4320" y="51846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下游 · 自动化供应商系统（按能力适配接入，可扩展）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74320" y="5404104"/>
            <a:ext cx="2211567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472" y="5468112"/>
            <a:ext cx="20652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Microsoft YaHei"/>
              </a:rPr>
              <a:t>WCS1 · 货架到人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2402" y="5678424"/>
            <a:ext cx="1415403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7472" y="5733288"/>
            <a:ext cx="206526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Microsoft YaHei"/>
              </a:rPr>
              <a:t>PopPick · 全品类订单单行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32191" y="5404104"/>
            <a:ext cx="2211567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705343" y="5468112"/>
            <a:ext cx="20652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Microsoft YaHei"/>
              </a:rPr>
              <a:t>WCS2 · 料箱到人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030274" y="5678424"/>
            <a:ext cx="1415403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705343" y="5733288"/>
            <a:ext cx="206526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Microsoft YaHei"/>
              </a:rPr>
              <a:t>RoboShuttle · 高密垂直存储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990063" y="5404104"/>
            <a:ext cx="2211567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63215" y="5468112"/>
            <a:ext cx="20652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Microsoft YaHei"/>
              </a:rPr>
              <a:t>WCS3 · 料箱到人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388145" y="5678424"/>
            <a:ext cx="1415403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63215" y="5733288"/>
            <a:ext cx="206526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Microsoft YaHei"/>
              </a:rPr>
              <a:t>闪擎 · 高效拣选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47935" y="5404104"/>
            <a:ext cx="2211567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21087" y="5468112"/>
            <a:ext cx="20652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Microsoft YaHei"/>
              </a:rPr>
              <a:t>WCS4 · 托盘到人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746017" y="5678424"/>
            <a:ext cx="1415403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421087" y="5733288"/>
            <a:ext cx="206526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Microsoft YaHei"/>
              </a:rPr>
              <a:t>上架/下拣 · 高密存储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705807" y="5404104"/>
            <a:ext cx="2211567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78959" y="5468112"/>
            <a:ext cx="20652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Microsoft YaHei"/>
              </a:rPr>
              <a:t>WCS N · 分拣机器人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103889" y="5678424"/>
            <a:ext cx="1415403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778959" y="5733288"/>
            <a:ext cx="206526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7A7A7A"/>
                </a:solidFill>
                <a:latin typeface="Microsoft YaHei"/>
              </a:rPr>
              <a:t>柔性分拣 · 可横向扩展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7432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7432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输送机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33776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33776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外形检测机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0121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0121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缠膜机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64661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64661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堆垛机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528108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528108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四向车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591556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591556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AGV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655003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655003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机器人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71845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1845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工作站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78189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78189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提升机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84534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4534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无人叉车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908792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908792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贴标机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4320" y="6464808"/>
            <a:ext cx="11643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说明：WMS 与自动化供应商系统之间不直连，全部通过 WCS 标准指令集完成上下行交互；自研 WCS 承担调度引擎、指令协议与能力适配的核心职责，供应商系统作为可插拔执行层，按统一适配规范接入、可横向扩展替换。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