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19456"/>
            <a:ext cx="82296" cy="347472"/>
          </a:xfrm>
          <a:prstGeom prst="rect">
            <a:avLst/>
          </a:prstGeom>
          <a:solidFill>
            <a:srgbClr val="D7382E"/>
          </a:solidFill>
          <a:ln/>
        </p:spPr>
      </p:sp>
      <p:sp>
        <p:nvSpPr>
          <p:cNvPr id="3" name="Text 1"/>
          <p:cNvSpPr/>
          <p:nvPr/>
        </p:nvSpPr>
        <p:spPr>
          <a:xfrm>
            <a:off x="475488" y="182880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武汉 FC 仓 · 海柔自动化系统落地方案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75488" y="5760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2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 FC WMS  →  自研 WCS 统一调度（重点）  →  海柔 HAIQ 料箱到人系统执行　·　总体框架在武汉 FC 仓的一次落地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10896" y="85039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27628D"/>
          </a:solidFill>
          <a:ln/>
        </p:spPr>
      </p:sp>
      <p:sp>
        <p:nvSpPr>
          <p:cNvPr id="6" name="Text 4"/>
          <p:cNvSpPr/>
          <p:nvPr/>
        </p:nvSpPr>
        <p:spPr>
          <a:xfrm>
            <a:off x="512064" y="822960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34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业务系统层 · FC WMS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22792" y="82296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· WMS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10896" y="969264"/>
            <a:ext cx="373380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DD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996696"/>
            <a:ext cx="3733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FC Flux WMS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10896" y="1161288"/>
            <a:ext cx="3733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沃尔玛 FC 仓库管理系统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4227576" y="969264"/>
            <a:ext cx="373380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DD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27576" y="996696"/>
            <a:ext cx="3733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WHC · 自动化任务编排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227576" y="1161288"/>
            <a:ext cx="3733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任务下发 / 状态回传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8144256" y="969264"/>
            <a:ext cx="373380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DD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4256" y="996696"/>
            <a:ext cx="3733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业务数据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144256" y="1161288"/>
            <a:ext cx="3733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 · 库存 · 商品 · 波次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2743200" y="1371600"/>
            <a:ext cx="66751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8A92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标准指令双向交互：下行指令 / 上行状态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2177796" y="1490472"/>
            <a:ext cx="0" cy="91440"/>
          </a:xfrm>
          <a:prstGeom prst="line">
            <a:avLst/>
          </a:prstGeom>
          <a:noFill/>
          <a:ln w="12700">
            <a:solidFill>
              <a:srgbClr val="27628D"/>
            </a:solidFill>
            <a:prstDash val="solid"/>
            <a:headEnd type="triangl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094476" y="1490472"/>
            <a:ext cx="0" cy="91440"/>
          </a:xfrm>
          <a:prstGeom prst="line">
            <a:avLst/>
          </a:prstGeom>
          <a:noFill/>
          <a:ln w="12700">
            <a:solidFill>
              <a:srgbClr val="27628D"/>
            </a:solidFill>
            <a:prstDash val="solid"/>
            <a:headEnd type="triangl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0011156" y="1490472"/>
            <a:ext cx="0" cy="91440"/>
          </a:xfrm>
          <a:prstGeom prst="line">
            <a:avLst/>
          </a:prstGeom>
          <a:noFill/>
          <a:ln w="12700">
            <a:solidFill>
              <a:srgbClr val="27628D"/>
            </a:solidFill>
            <a:prstDash val="solid"/>
            <a:headEnd type="triangl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10896" y="1591056"/>
            <a:ext cx="11567160" cy="2249424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875">
            <a:solidFill>
              <a:srgbClr val="AAC2D6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57200" y="1664208"/>
            <a:ext cx="11274552" cy="402336"/>
          </a:xfrm>
          <a:prstGeom prst="roundRect">
            <a:avLst>
              <a:gd name="adj" fmla="val 11364"/>
            </a:avLst>
          </a:prstGeom>
          <a:solidFill>
            <a:srgbClr val="27628D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1700784"/>
            <a:ext cx="11274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WCS · 仓储自动化统一调度引擎（重点）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1892808"/>
            <a:ext cx="11274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FE0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标准指令协议 · 版本化管理 · 幂等重试 · 灰度发布 · 限流降级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57200" y="2103120"/>
            <a:ext cx="112745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8A92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FC WMS 与海柔系统不直连：统一经 WCS 以标准指令集下发任务 / 回传状态，按设备能力分层调度，供应商可插拔扩展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457200" y="22860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762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 </a:t>
            </a:r>
            <a:pPr algn="l" indent="0" marL="0">
              <a:buNone/>
            </a:pPr>
            <a:r>
              <a:rPr lang="en-US" sz="1000" b="1" dirty="0">
                <a:solidFill>
                  <a:srgbClr val="334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统一调度层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05672" y="228600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Scheduling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57200" y="2432304"/>
            <a:ext cx="1802892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2473452"/>
            <a:ext cx="1802892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任务编排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2592324"/>
            <a:ext cx="18028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多任务并行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351532" y="2432304"/>
            <a:ext cx="1802892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51532" y="2473452"/>
            <a:ext cx="1802892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优先级调度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351532" y="2592324"/>
            <a:ext cx="18028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SLA 分级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4245864" y="2432304"/>
            <a:ext cx="1802892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45864" y="2473452"/>
            <a:ext cx="1802892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路由分配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245864" y="2592324"/>
            <a:ext cx="18028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最优匹配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6140196" y="2432304"/>
            <a:ext cx="1802892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40196" y="2473452"/>
            <a:ext cx="1802892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限流降级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140196" y="2592324"/>
            <a:ext cx="18028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峰值保护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8034528" y="2432304"/>
            <a:ext cx="1802892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34528" y="2473452"/>
            <a:ext cx="1802892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异常熔断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034528" y="2592324"/>
            <a:ext cx="18028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失败重试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9928860" y="2432304"/>
            <a:ext cx="1802892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28860" y="2473452"/>
            <a:ext cx="1802892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执行监控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9928860" y="2592324"/>
            <a:ext cx="18028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时效预警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57200" y="2779776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762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 </a:t>
            </a:r>
            <a:pPr algn="l" indent="0" marL="0">
              <a:buNone/>
            </a:pPr>
            <a:r>
              <a:rPr lang="en-US" sz="1000" b="1" dirty="0">
                <a:solidFill>
                  <a:srgbClr val="334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标准指令集（本仓启用）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805672" y="2779776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Instruction Set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57200" y="2926080"/>
            <a:ext cx="1329309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2967228"/>
            <a:ext cx="1329309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收货指令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57200" y="3086100"/>
            <a:ext cx="1329309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DWS 称重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1877949" y="2926080"/>
            <a:ext cx="1329309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877949" y="2967228"/>
            <a:ext cx="1329309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上架指令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877949" y="3086100"/>
            <a:ext cx="1329309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返回库位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298698" y="2926080"/>
            <a:ext cx="1329309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98698" y="2967228"/>
            <a:ext cx="1329309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拣货指令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298698" y="3086100"/>
            <a:ext cx="1329309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货箱到人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4719447" y="2926080"/>
            <a:ext cx="1329309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9447" y="2967228"/>
            <a:ext cx="1329309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分播指令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719447" y="3086100"/>
            <a:ext cx="1329309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格口/门店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6140196" y="2926080"/>
            <a:ext cx="1329309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40196" y="2967228"/>
            <a:ext cx="1329309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盘点指令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140196" y="3086100"/>
            <a:ext cx="1329309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RFID·物理盘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7560945" y="2926080"/>
            <a:ext cx="1329309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560945" y="2967228"/>
            <a:ext cx="1329309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移库指令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560945" y="3086100"/>
            <a:ext cx="1329309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库位调整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8981694" y="2926080"/>
            <a:ext cx="1329309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981694" y="2967228"/>
            <a:ext cx="1329309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波次指令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8981694" y="3086100"/>
            <a:ext cx="1329309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锁号·产能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10402443" y="2926080"/>
            <a:ext cx="1329309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402443" y="2967228"/>
            <a:ext cx="1329309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对账指令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0402443" y="3086100"/>
            <a:ext cx="1329309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库存核对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457200" y="327355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762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 </a:t>
            </a:r>
            <a:pPr algn="l" indent="0" marL="0">
              <a:buNone/>
            </a:pPr>
            <a:r>
              <a:rPr lang="en-US" sz="1000" b="1" dirty="0">
                <a:solidFill>
                  <a:srgbClr val="334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设备能力适配层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8805672" y="32735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Adapter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57200" y="3419856"/>
            <a:ext cx="2181758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7200" y="3461004"/>
            <a:ext cx="218175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货架到人适配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457200" y="3579876"/>
            <a:ext cx="218175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PopPick 类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2730398" y="3419856"/>
            <a:ext cx="2181758" cy="310896"/>
          </a:xfrm>
          <a:prstGeom prst="roundRect">
            <a:avLst>
              <a:gd name="adj" fmla="val 8824"/>
            </a:avLst>
          </a:prstGeom>
          <a:solidFill>
            <a:srgbClr val="FCF3F2"/>
          </a:solidFill>
          <a:ln w="12700">
            <a:solidFill>
              <a:srgbClr val="D7382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730398" y="3461004"/>
            <a:ext cx="218175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738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料箱到人适配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2730398" y="3579876"/>
            <a:ext cx="218175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738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Shuttle 类 · 闪攀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5003597" y="3419856"/>
            <a:ext cx="2181758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003597" y="3461004"/>
            <a:ext cx="218175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托盘到人适配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5003597" y="3579876"/>
            <a:ext cx="218175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高位密存类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7276795" y="3419856"/>
            <a:ext cx="2181758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276795" y="3461004"/>
            <a:ext cx="218175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分拣机器人适配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7276795" y="3579876"/>
            <a:ext cx="218175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柔性分拣类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9549994" y="3419856"/>
            <a:ext cx="2181758" cy="310896"/>
          </a:xfrm>
          <a:prstGeom prst="roundRect">
            <a:avLst>
              <a:gd name="adj" fmla="val 8824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549994" y="3461004"/>
            <a:ext cx="2181758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通用设备适配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9549994" y="3579876"/>
            <a:ext cx="218175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AGV/RGV/输送线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2377440" y="3895344"/>
            <a:ext cx="7406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8A92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经『料箱到人适配』对接海柔 HAIQ · HTTP REST API（JSON/UTF-8 · 17 个接口）</a:t>
            </a:r>
            <a:endParaRPr lang="en-US" sz="780" dirty="0"/>
          </a:p>
        </p:txBody>
      </p:sp>
      <p:sp>
        <p:nvSpPr>
          <p:cNvPr id="90" name="Shape 88"/>
          <p:cNvSpPr/>
          <p:nvPr/>
        </p:nvSpPr>
        <p:spPr>
          <a:xfrm>
            <a:off x="2244852" y="4023360"/>
            <a:ext cx="0" cy="73152"/>
          </a:xfrm>
          <a:prstGeom prst="line">
            <a:avLst/>
          </a:prstGeom>
          <a:noFill/>
          <a:ln w="12700">
            <a:solidFill>
              <a:srgbClr val="D7382E"/>
            </a:solidFill>
            <a:prstDash val="solid"/>
            <a:headEnd type="triangle"/>
            <a:tailEnd type="triangle"/>
          </a:ln>
        </p:spPr>
      </p:sp>
      <p:sp>
        <p:nvSpPr>
          <p:cNvPr id="91" name="Shape 89"/>
          <p:cNvSpPr/>
          <p:nvPr/>
        </p:nvSpPr>
        <p:spPr>
          <a:xfrm>
            <a:off x="6094476" y="4023360"/>
            <a:ext cx="0" cy="73152"/>
          </a:xfrm>
          <a:prstGeom prst="line">
            <a:avLst/>
          </a:prstGeom>
          <a:noFill/>
          <a:ln w="12700">
            <a:solidFill>
              <a:srgbClr val="D7382E"/>
            </a:solidFill>
            <a:prstDash val="solid"/>
            <a:headEnd type="triangle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9944100" y="4023360"/>
            <a:ext cx="0" cy="73152"/>
          </a:xfrm>
          <a:prstGeom prst="line">
            <a:avLst/>
          </a:prstGeom>
          <a:noFill/>
          <a:ln w="12700">
            <a:solidFill>
              <a:srgbClr val="D7382E"/>
            </a:solidFill>
            <a:prstDash val="solid"/>
            <a:headEnd type="triangle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310896" y="4114800"/>
            <a:ext cx="11567160" cy="2304288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AAC2D6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>
            <a:off x="457200" y="416966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D7382E"/>
          </a:solidFill>
          <a:ln/>
        </p:spPr>
      </p:sp>
      <p:sp>
        <p:nvSpPr>
          <p:cNvPr id="95" name="Text 93"/>
          <p:cNvSpPr/>
          <p:nvPr/>
        </p:nvSpPr>
        <p:spPr>
          <a:xfrm>
            <a:off x="658368" y="414223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34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执行系统层 · 海柔 HAIQ 智能仓储系统</a:t>
            </a:r>
            <a:pPr algn="l" indent="0" marL="0">
              <a:buNone/>
            </a:pPr>
            <a:r>
              <a:rPr lang="en-US" sz="850" b="1" dirty="0">
                <a:solidFill>
                  <a:srgbClr val="D738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WCS3 · 料箱到人 / 闪攀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8622792" y="414223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ROBOTICS · EXECUTION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457200" y="4352544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762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软件系统层 · 海柔 HAIQ</a:t>
            </a:r>
            <a:pPr algn="l" indent="0" marL="0">
              <a:buNone/>
            </a:pPr>
            <a:r>
              <a:rPr lang="en-US" sz="7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SOFTWARE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457200" y="4517136"/>
            <a:ext cx="4489704" cy="384048"/>
          </a:xfrm>
          <a:prstGeom prst="roundRect">
            <a:avLst>
              <a:gd name="adj" fmla="val 9524"/>
            </a:avLst>
          </a:prstGeom>
          <a:solidFill>
            <a:srgbClr val="F3F7FB"/>
          </a:solidFill>
          <a:ln w="10160">
            <a:solidFill>
              <a:srgbClr val="27628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7200" y="4544568"/>
            <a:ext cx="4489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WES 仓库执行系统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457200" y="4727448"/>
            <a:ext cx="4489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业务逻辑 / 库存 / 订单 / 工作站</a:t>
            </a:r>
            <a:endParaRPr lang="en-US" sz="780" dirty="0"/>
          </a:p>
        </p:txBody>
      </p:sp>
      <p:sp>
        <p:nvSpPr>
          <p:cNvPr id="101" name="Shape 99"/>
          <p:cNvSpPr/>
          <p:nvPr/>
        </p:nvSpPr>
        <p:spPr>
          <a:xfrm>
            <a:off x="5129784" y="4517136"/>
            <a:ext cx="3209544" cy="384048"/>
          </a:xfrm>
          <a:prstGeom prst="roundRect">
            <a:avLst>
              <a:gd name="adj" fmla="val 9524"/>
            </a:avLst>
          </a:prstGeom>
          <a:solidFill>
            <a:srgbClr val="F3F7FB"/>
          </a:solidFill>
          <a:ln w="10160">
            <a:solidFill>
              <a:srgbClr val="27628D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129784" y="4544568"/>
            <a:ext cx="3209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ESS 设备调度系统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129784" y="4727448"/>
            <a:ext cx="3209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 / 路径 / 充电调度</a:t>
            </a:r>
            <a:endParaRPr lang="en-US" sz="780" dirty="0"/>
          </a:p>
        </p:txBody>
      </p:sp>
      <p:sp>
        <p:nvSpPr>
          <p:cNvPr id="104" name="Shape 102"/>
          <p:cNvSpPr/>
          <p:nvPr/>
        </p:nvSpPr>
        <p:spPr>
          <a:xfrm>
            <a:off x="8522208" y="4517136"/>
            <a:ext cx="3209544" cy="384048"/>
          </a:xfrm>
          <a:prstGeom prst="roundRect">
            <a:avLst>
              <a:gd name="adj" fmla="val 9524"/>
            </a:avLst>
          </a:prstGeom>
          <a:solidFill>
            <a:srgbClr val="F3F7FB"/>
          </a:solidFill>
          <a:ln w="10160">
            <a:solidFill>
              <a:srgbClr val="27628D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522208" y="4544568"/>
            <a:ext cx="3209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DP 数据平台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8522208" y="4727448"/>
            <a:ext cx="3209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98A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 / 预警 / 分析</a:t>
            </a:r>
            <a:endParaRPr lang="en-US" sz="780" dirty="0"/>
          </a:p>
        </p:txBody>
      </p:sp>
      <p:sp>
        <p:nvSpPr>
          <p:cNvPr id="107" name="Text 105"/>
          <p:cNvSpPr/>
          <p:nvPr/>
        </p:nvSpPr>
        <p:spPr>
          <a:xfrm>
            <a:off x="457200" y="49560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2762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业务功能模块</a:t>
            </a:r>
            <a:endParaRPr lang="en-US" sz="820" dirty="0"/>
          </a:p>
        </p:txBody>
      </p:sp>
      <p:sp>
        <p:nvSpPr>
          <p:cNvPr id="108" name="Shape 106"/>
          <p:cNvSpPr/>
          <p:nvPr/>
        </p:nvSpPr>
        <p:spPr>
          <a:xfrm>
            <a:off x="2057400" y="4937760"/>
            <a:ext cx="1847088" cy="237744"/>
          </a:xfrm>
          <a:prstGeom prst="roundRect">
            <a:avLst>
              <a:gd name="adj" fmla="val 19231"/>
            </a:avLst>
          </a:prstGeom>
          <a:solidFill>
            <a:srgbClr val="EDF1F5"/>
          </a:solidFill>
          <a:ln/>
        </p:spPr>
      </p:sp>
      <p:sp>
        <p:nvSpPr>
          <p:cNvPr id="109" name="Text 107"/>
          <p:cNvSpPr/>
          <p:nvPr/>
        </p:nvSpPr>
        <p:spPr>
          <a:xfrm>
            <a:off x="2057400" y="493776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基础资料</a:t>
            </a:r>
            <a:endParaRPr lang="en-US" sz="820" dirty="0"/>
          </a:p>
        </p:txBody>
      </p:sp>
      <p:sp>
        <p:nvSpPr>
          <p:cNvPr id="110" name="Shape 108"/>
          <p:cNvSpPr/>
          <p:nvPr/>
        </p:nvSpPr>
        <p:spPr>
          <a:xfrm>
            <a:off x="4014216" y="4937760"/>
            <a:ext cx="1847088" cy="237744"/>
          </a:xfrm>
          <a:prstGeom prst="roundRect">
            <a:avLst>
              <a:gd name="adj" fmla="val 19231"/>
            </a:avLst>
          </a:prstGeom>
          <a:solidFill>
            <a:srgbClr val="EDF1F5"/>
          </a:solidFill>
          <a:ln/>
        </p:spPr>
      </p:sp>
      <p:sp>
        <p:nvSpPr>
          <p:cNvPr id="111" name="Text 109"/>
          <p:cNvSpPr/>
          <p:nvPr/>
        </p:nvSpPr>
        <p:spPr>
          <a:xfrm>
            <a:off x="4014216" y="493776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入库模块</a:t>
            </a:r>
            <a:endParaRPr lang="en-US" sz="820" dirty="0"/>
          </a:p>
        </p:txBody>
      </p:sp>
      <p:sp>
        <p:nvSpPr>
          <p:cNvPr id="112" name="Shape 110"/>
          <p:cNvSpPr/>
          <p:nvPr/>
        </p:nvSpPr>
        <p:spPr>
          <a:xfrm>
            <a:off x="5971032" y="4937760"/>
            <a:ext cx="1847088" cy="237744"/>
          </a:xfrm>
          <a:prstGeom prst="roundRect">
            <a:avLst>
              <a:gd name="adj" fmla="val 19231"/>
            </a:avLst>
          </a:prstGeom>
          <a:solidFill>
            <a:srgbClr val="EDF1F5"/>
          </a:solidFill>
          <a:ln/>
        </p:spPr>
      </p:sp>
      <p:sp>
        <p:nvSpPr>
          <p:cNvPr id="113" name="Text 111"/>
          <p:cNvSpPr/>
          <p:nvPr/>
        </p:nvSpPr>
        <p:spPr>
          <a:xfrm>
            <a:off x="5971032" y="493776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出库模块</a:t>
            </a:r>
            <a:endParaRPr lang="en-US" sz="820" dirty="0"/>
          </a:p>
        </p:txBody>
      </p:sp>
      <p:sp>
        <p:nvSpPr>
          <p:cNvPr id="114" name="Shape 112"/>
          <p:cNvSpPr/>
          <p:nvPr/>
        </p:nvSpPr>
        <p:spPr>
          <a:xfrm>
            <a:off x="7927848" y="4937760"/>
            <a:ext cx="1847088" cy="237744"/>
          </a:xfrm>
          <a:prstGeom prst="roundRect">
            <a:avLst>
              <a:gd name="adj" fmla="val 19231"/>
            </a:avLst>
          </a:prstGeom>
          <a:solidFill>
            <a:srgbClr val="EDF1F5"/>
          </a:solidFill>
          <a:ln/>
        </p:spPr>
      </p:sp>
      <p:sp>
        <p:nvSpPr>
          <p:cNvPr id="115" name="Text 113"/>
          <p:cNvSpPr/>
          <p:nvPr/>
        </p:nvSpPr>
        <p:spPr>
          <a:xfrm>
            <a:off x="7927848" y="493776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库内模块</a:t>
            </a:r>
            <a:endParaRPr lang="en-US" sz="820" dirty="0"/>
          </a:p>
        </p:txBody>
      </p:sp>
      <p:sp>
        <p:nvSpPr>
          <p:cNvPr id="116" name="Shape 114"/>
          <p:cNvSpPr/>
          <p:nvPr/>
        </p:nvSpPr>
        <p:spPr>
          <a:xfrm>
            <a:off x="9884664" y="4937760"/>
            <a:ext cx="1847088" cy="237744"/>
          </a:xfrm>
          <a:prstGeom prst="roundRect">
            <a:avLst>
              <a:gd name="adj" fmla="val 19231"/>
            </a:avLst>
          </a:prstGeom>
          <a:solidFill>
            <a:srgbClr val="EDF1F5"/>
          </a:solidFill>
          <a:ln/>
        </p:spPr>
      </p:sp>
      <p:sp>
        <p:nvSpPr>
          <p:cNvPr id="117" name="Text 115"/>
          <p:cNvSpPr/>
          <p:nvPr/>
        </p:nvSpPr>
        <p:spPr>
          <a:xfrm>
            <a:off x="9884664" y="493776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系统管理</a:t>
            </a:r>
            <a:endParaRPr lang="en-US" sz="820" dirty="0"/>
          </a:p>
        </p:txBody>
      </p:sp>
      <p:sp>
        <p:nvSpPr>
          <p:cNvPr id="118" name="Text 116"/>
          <p:cNvSpPr/>
          <p:nvPr/>
        </p:nvSpPr>
        <p:spPr>
          <a:xfrm>
            <a:off x="457200" y="5230368"/>
            <a:ext cx="112745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8A92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ESS 任务下发 / 设备状态回传</a:t>
            </a:r>
            <a:endParaRPr lang="en-US" sz="760" dirty="0"/>
          </a:p>
        </p:txBody>
      </p:sp>
      <p:sp>
        <p:nvSpPr>
          <p:cNvPr id="119" name="Shape 117"/>
          <p:cNvSpPr/>
          <p:nvPr/>
        </p:nvSpPr>
        <p:spPr>
          <a:xfrm>
            <a:off x="3200400" y="5358384"/>
            <a:ext cx="0" cy="91440"/>
          </a:xfrm>
          <a:prstGeom prst="line">
            <a:avLst/>
          </a:prstGeom>
          <a:noFill/>
          <a:ln w="12700">
            <a:solidFill>
              <a:srgbClr val="27628D"/>
            </a:solidFill>
            <a:prstDash val="solid"/>
            <a:headEnd type="triangle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6089904" y="5358384"/>
            <a:ext cx="0" cy="91440"/>
          </a:xfrm>
          <a:prstGeom prst="line">
            <a:avLst/>
          </a:prstGeom>
          <a:noFill/>
          <a:ln w="12700">
            <a:solidFill>
              <a:srgbClr val="27628D"/>
            </a:solidFill>
            <a:prstDash val="solid"/>
            <a:headEnd type="triangle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8961120" y="5358384"/>
            <a:ext cx="0" cy="91440"/>
          </a:xfrm>
          <a:prstGeom prst="line">
            <a:avLst/>
          </a:prstGeom>
          <a:noFill/>
          <a:ln w="12700">
            <a:solidFill>
              <a:srgbClr val="27628D"/>
            </a:solidFill>
            <a:prstDash val="solid"/>
            <a:headEnd type="triangle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57200" y="5468112"/>
            <a:ext cx="5500116" cy="877824"/>
          </a:xfrm>
          <a:prstGeom prst="roundRect">
            <a:avLst>
              <a:gd name="adj" fmla="val 4167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231636" y="5468112"/>
            <a:ext cx="5500116" cy="877824"/>
          </a:xfrm>
          <a:prstGeom prst="roundRect">
            <a:avLst>
              <a:gd name="adj" fmla="val 4167"/>
            </a:avLst>
          </a:prstGeom>
          <a:solidFill>
            <a:srgbClr val="FBFCFD"/>
          </a:solidFill>
          <a:ln w="7620">
            <a:solidFill>
              <a:srgbClr val="D7DDE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03504" y="5522976"/>
            <a:ext cx="52257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762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设备资源层</a:t>
            </a:r>
            <a:pPr algn="l" indent="0" marL="0">
              <a:buNone/>
            </a:pPr>
            <a:r>
              <a:rPr lang="en-US" sz="7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EQUIPMENT</a:t>
            </a:r>
            <a:endParaRPr lang="en-US" sz="850" dirty="0"/>
          </a:p>
        </p:txBody>
      </p:sp>
      <p:sp>
        <p:nvSpPr>
          <p:cNvPr id="125" name="Text 123"/>
          <p:cNvSpPr/>
          <p:nvPr/>
        </p:nvSpPr>
        <p:spPr>
          <a:xfrm>
            <a:off x="6377940" y="5522976"/>
            <a:ext cx="52257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762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工作站层</a:t>
            </a:r>
            <a:pPr algn="l" indent="0" marL="0">
              <a:buNone/>
            </a:pPr>
            <a:r>
              <a:rPr lang="en-US" sz="7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WORKSTATIONS</a:t>
            </a:r>
            <a:endParaRPr lang="en-US" sz="850" dirty="0"/>
          </a:p>
        </p:txBody>
      </p:sp>
      <p:sp>
        <p:nvSpPr>
          <p:cNvPr id="126" name="Text 124"/>
          <p:cNvSpPr/>
          <p:nvPr/>
        </p:nvSpPr>
        <p:spPr>
          <a:xfrm>
            <a:off x="621792" y="5705856"/>
            <a:ext cx="5189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840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箱式机器人 A71-L-E1-H-CN ×150（惯性 + 二维码导航）</a:t>
            </a:r>
            <a:endParaRPr lang="en-US" sz="84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840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HRC-3000-E4-CN 智能充电桩 ×25</a:t>
            </a:r>
            <a:endParaRPr lang="en-US" sz="84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840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德玛输送线（Modbus 协议）· 安全门 / 安全围栏</a:t>
            </a:r>
            <a:endParaRPr lang="en-US" sz="840" dirty="0"/>
          </a:p>
        </p:txBody>
      </p:sp>
      <p:sp>
        <p:nvSpPr>
          <p:cNvPr id="127" name="Text 125"/>
          <p:cNvSpPr/>
          <p:nvPr/>
        </p:nvSpPr>
        <p:spPr>
          <a:xfrm>
            <a:off x="6396228" y="5669280"/>
            <a:ext cx="51892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入库工作站 In_01~06（+异常 In_11）</a:t>
            </a:r>
            <a:endParaRPr lang="en-US" sz="84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入库取箱口 ×5（In_101/102/103/105/111）</a:t>
            </a:r>
            <a:endParaRPr lang="en-US" sz="84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人机直拣工作站 out_01~22 · 异常打包口 101/102</a:t>
            </a:r>
            <a:endParaRPr lang="en-US" sz="84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2F445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订单打包台 5 组×6 = 30 个</a:t>
            </a:r>
            <a:endParaRPr lang="en-US" sz="840" dirty="0"/>
          </a:p>
        </p:txBody>
      </p:sp>
      <p:sp>
        <p:nvSpPr>
          <p:cNvPr id="128" name="Text 126"/>
          <p:cNvSpPr/>
          <p:nvPr/>
        </p:nvSpPr>
        <p:spPr>
          <a:xfrm>
            <a:off x="310896" y="6473952"/>
            <a:ext cx="1156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8A92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说明：FC WMS 不直连自动化设备；统一经自研 WCS 以标准指令集下发、按『料箱到人』能力适配调度海柔 HAIQ 系统（WES/ESS/DP），由 ESS 驱动箱式机器人与各工作站完成入库到出库全流程。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武汉 FC 仓 · 海柔自动化系统方案</dc:title>
  <dc:subject>PptxGenJS Presentation</dc:subject>
  <dc:creator>WCS</dc:creator>
  <cp:lastModifiedBy>WCS</cp:lastModifiedBy>
  <cp:revision>1</cp:revision>
  <dcterms:created xsi:type="dcterms:W3CDTF">2026-06-24T13:55:05Z</dcterms:created>
  <dcterms:modified xsi:type="dcterms:W3CDTF">2026-06-24T13:55:05Z</dcterms:modified>
</cp:coreProperties>
</file>