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B25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603504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海柔创新  HAI ROBOTICS    |    智能仓储解决方案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61288" y="69494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武汉 FC 料箱到人系统方案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930384" y="548640"/>
            <a:ext cx="1801368" cy="4572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/>
        </p:spPr>
      </p:sp>
      <p:sp>
        <p:nvSpPr>
          <p:cNvPr id="7" name="Text 4"/>
          <p:cNvSpPr/>
          <p:nvPr/>
        </p:nvSpPr>
        <p:spPr>
          <a:xfrm>
            <a:off x="9930384" y="5486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 · OVERVIEW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箱式机器人（ACR）存拣系统　—　储存料箱入库 · 智能存储搬运 · 订单拣选出库，实现入库到出库全流程自动化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C8A1C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62763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端到端作业流程  </a:t>
            </a:r>
            <a:pPr algn="l" indent="0" marL="0">
              <a:buNone/>
            </a:pPr>
            <a:r>
              <a:rPr lang="en-US" sz="950" b="1" spc="100" kern="0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88900" dist="38100" dir="5400000">
              <a:srgbClr val="8AA0BC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56716" y="2084832"/>
            <a:ext cx="566928" cy="566928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221284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" y="20299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27249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上游接单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29535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WHC·WMS 接口对接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468880" y="2368296"/>
            <a:ext cx="269748" cy="0"/>
          </a:xfrm>
          <a:prstGeom prst="line">
            <a:avLst/>
          </a:prstGeom>
          <a:noFill/>
          <a:ln w="22225">
            <a:solidFill>
              <a:srgbClr val="EC8A1C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2784348" y="193852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88900" dist="38100" dir="5400000">
              <a:srgbClr val="8AA0BC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483864" y="2084832"/>
            <a:ext cx="566928" cy="566928"/>
          </a:xfrm>
          <a:prstGeom prst="ellipse">
            <a:avLst/>
          </a:prstGeom>
          <a:solidFill>
            <a:srgbClr val="E1F2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21284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894076" y="20299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784348" y="27249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收货入库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784348" y="29535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入库工作站 In_01~06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96028" y="2368296"/>
            <a:ext cx="269748" cy="0"/>
          </a:xfrm>
          <a:prstGeom prst="line">
            <a:avLst/>
          </a:prstGeom>
          <a:noFill/>
          <a:ln w="22225">
            <a:solidFill>
              <a:srgbClr val="EC8A1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111496" y="193852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88900" dist="38100" dir="5400000">
              <a:srgbClr val="8AA0BC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811012" y="2084832"/>
            <a:ext cx="566928" cy="566928"/>
          </a:xfrm>
          <a:prstGeom prst="ellipse">
            <a:avLst/>
          </a:prstGeom>
          <a:solidFill>
            <a:srgbClr val="FDF0D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21284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21224" y="20299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111496" y="27249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智能存储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111496" y="29535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货架存储 · ACR 搬运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123176" y="2368296"/>
            <a:ext cx="269748" cy="0"/>
          </a:xfrm>
          <a:prstGeom prst="line">
            <a:avLst/>
          </a:prstGeom>
          <a:noFill/>
          <a:ln w="22225">
            <a:solidFill>
              <a:srgbClr val="EC8A1C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7438644" y="193852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88900" dist="38100" dir="5400000">
              <a:srgbClr val="8AA0BC">
                <a:alpha val="2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138160" y="2084832"/>
            <a:ext cx="566928" cy="566928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212848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548372" y="20299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438644" y="27249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人机直拣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438644" y="29535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直拣工作站 out_01~22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450324" y="2368296"/>
            <a:ext cx="269748" cy="0"/>
          </a:xfrm>
          <a:prstGeom prst="line">
            <a:avLst/>
          </a:prstGeom>
          <a:noFill/>
          <a:ln w="22225">
            <a:solidFill>
              <a:srgbClr val="EC8A1C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765792" y="1938528"/>
            <a:ext cx="196596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88900" dist="38100" dir="5400000">
              <a:srgbClr val="8AA0BC">
                <a:alpha val="2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465308" y="2084832"/>
            <a:ext cx="566928" cy="566928"/>
          </a:xfrm>
          <a:prstGeom prst="ellipse">
            <a:avLst/>
          </a:prstGeom>
          <a:solidFill>
            <a:srgbClr val="E1F2F1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3324" y="2212848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875520" y="20299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9765792" y="27249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订单出库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9765792" y="29535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打包复核 · 30 打包台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457200" y="33924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C8A1C"/>
          </a:solidFill>
          <a:ln/>
        </p:spPr>
      </p:sp>
      <p:sp>
        <p:nvSpPr>
          <p:cNvPr id="46" name="Text 38"/>
          <p:cNvSpPr/>
          <p:nvPr/>
        </p:nvSpPr>
        <p:spPr>
          <a:xfrm>
            <a:off x="658368" y="334670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系统组成  </a:t>
            </a:r>
            <a:pPr algn="l" indent="0" marL="0">
              <a:buNone/>
            </a:pPr>
            <a:r>
              <a:rPr lang="en-US" sz="950" b="1" spc="100" kern="0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COMPOSITION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457200" y="3639312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88900" dist="38100" dir="5400000">
              <a:srgbClr val="8AA0BC">
                <a:alpha val="22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76656" y="3840480"/>
            <a:ext cx="475488" cy="475488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959352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261872" y="38404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软件系统层 · 海柔 HAIQ</a:t>
            </a:r>
            <a:endParaRPr lang="en-US" sz="1250" dirty="0"/>
          </a:p>
        </p:txBody>
      </p:sp>
      <p:sp>
        <p:nvSpPr>
          <p:cNvPr id="51" name="Text 42"/>
          <p:cNvSpPr/>
          <p:nvPr/>
        </p:nvSpPr>
        <p:spPr>
          <a:xfrm>
            <a:off x="1261872" y="40965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PLATFORM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731520" y="4425696"/>
            <a:ext cx="3072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WES 仓库执行系统：业务 / 库存 / 订单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ESS 设备调度系统：机器人 / 路径 / 充电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数据平台：报表 / 预警 / 分析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业务模块：入库 · 出库 · 库内 · 基础资料</a:t>
            </a:r>
            <a:endParaRPr lang="en-US" sz="930" dirty="0"/>
          </a:p>
        </p:txBody>
      </p:sp>
      <p:sp>
        <p:nvSpPr>
          <p:cNvPr id="53" name="Shape 44"/>
          <p:cNvSpPr/>
          <p:nvPr/>
        </p:nvSpPr>
        <p:spPr>
          <a:xfrm>
            <a:off x="4306824" y="3639312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88900" dist="38100" dir="5400000">
              <a:srgbClr val="8AA0BC">
                <a:alpha val="2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4526280" y="3840480"/>
            <a:ext cx="475488" cy="475488"/>
          </a:xfrm>
          <a:prstGeom prst="ellipse">
            <a:avLst/>
          </a:prstGeom>
          <a:solidFill>
            <a:srgbClr val="E1F2F1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3959352"/>
            <a:ext cx="237744" cy="237744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111496" y="38404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设备资源层</a:t>
            </a:r>
            <a:endParaRPr lang="en-US" sz="1250" dirty="0"/>
          </a:p>
        </p:txBody>
      </p:sp>
      <p:sp>
        <p:nvSpPr>
          <p:cNvPr id="57" name="Text 47"/>
          <p:cNvSpPr/>
          <p:nvPr/>
        </p:nvSpPr>
        <p:spPr>
          <a:xfrm>
            <a:off x="5111496" y="40965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&amp; ROBOTS</a:t>
            </a:r>
            <a:endParaRPr lang="en-US" sz="800" dirty="0"/>
          </a:p>
        </p:txBody>
      </p:sp>
      <p:sp>
        <p:nvSpPr>
          <p:cNvPr id="58" name="Text 48"/>
          <p:cNvSpPr/>
          <p:nvPr/>
        </p:nvSpPr>
        <p:spPr>
          <a:xfrm>
            <a:off x="4581144" y="4425696"/>
            <a:ext cx="3072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箱式机器人 A71-L-E1-H-CN ×150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导航方式：惯性 + 二维码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HRC-3000-E4-CN 智能充电桩 ×25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德玛输送线（Modbus）· 安全门</a:t>
            </a:r>
            <a:endParaRPr lang="en-US" sz="930" dirty="0"/>
          </a:p>
        </p:txBody>
      </p:sp>
      <p:sp>
        <p:nvSpPr>
          <p:cNvPr id="59" name="Shape 49"/>
          <p:cNvSpPr/>
          <p:nvPr/>
        </p:nvSpPr>
        <p:spPr>
          <a:xfrm>
            <a:off x="8156448" y="3639312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88900" dist="38100" dir="5400000">
              <a:srgbClr val="8AA0BC">
                <a:alpha val="22000"/>
              </a:srgbClr>
            </a:outerShdw>
          </a:effectLst>
        </p:spPr>
      </p:sp>
      <p:sp>
        <p:nvSpPr>
          <p:cNvPr id="60" name="Shape 50"/>
          <p:cNvSpPr/>
          <p:nvPr/>
        </p:nvSpPr>
        <p:spPr>
          <a:xfrm>
            <a:off x="8375904" y="3840480"/>
            <a:ext cx="475488" cy="475488"/>
          </a:xfrm>
          <a:prstGeom prst="ellipse">
            <a:avLst/>
          </a:prstGeom>
          <a:solidFill>
            <a:srgbClr val="FDF0DC"/>
          </a:solidFill>
          <a:ln/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4776" y="3959352"/>
            <a:ext cx="237744" cy="237744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8961120" y="38404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C8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工作站层</a:t>
            </a:r>
            <a:endParaRPr lang="en-US" sz="1250" dirty="0"/>
          </a:p>
        </p:txBody>
      </p:sp>
      <p:sp>
        <p:nvSpPr>
          <p:cNvPr id="63" name="Text 52"/>
          <p:cNvSpPr/>
          <p:nvPr/>
        </p:nvSpPr>
        <p:spPr>
          <a:xfrm>
            <a:off x="8961120" y="40965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3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WORKSTATIONS</a:t>
            </a:r>
            <a:endParaRPr lang="en-US" sz="800" dirty="0"/>
          </a:p>
        </p:txBody>
      </p:sp>
      <p:sp>
        <p:nvSpPr>
          <p:cNvPr id="64" name="Text 53"/>
          <p:cNvSpPr/>
          <p:nvPr/>
        </p:nvSpPr>
        <p:spPr>
          <a:xfrm>
            <a:off x="8430768" y="4425696"/>
            <a:ext cx="30723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入库工作站 In_01~06（+异常 In_11）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入库取箱口 ×5 · 人机直拣站 ×22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订单打包台 5组×6 = 30 个</a:t>
            </a:r>
            <a:endParaRPr lang="en-US" sz="9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0F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异常打包口 101 / 102</a:t>
            </a:r>
            <a:endParaRPr lang="en-US" sz="930" dirty="0"/>
          </a:p>
        </p:txBody>
      </p:sp>
      <p:sp>
        <p:nvSpPr>
          <p:cNvPr id="65" name="Shape 54"/>
          <p:cNvSpPr/>
          <p:nvPr/>
        </p:nvSpPr>
        <p:spPr>
          <a:xfrm>
            <a:off x="457200" y="5541264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9525">
            <a:solidFill>
              <a:srgbClr val="DBE3EE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457200" y="5650992"/>
            <a:ext cx="22549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台</a:t>
            </a:r>
            <a:endParaRPr lang="en-US" sz="2400" dirty="0"/>
          </a:p>
        </p:txBody>
      </p:sp>
      <p:sp>
        <p:nvSpPr>
          <p:cNvPr id="67" name="Text 56"/>
          <p:cNvSpPr/>
          <p:nvPr/>
        </p:nvSpPr>
        <p:spPr>
          <a:xfrm>
            <a:off x="457200" y="605332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箱式机器人 ACR</a:t>
            </a:r>
            <a:endParaRPr lang="en-US" sz="950" dirty="0"/>
          </a:p>
        </p:txBody>
      </p:sp>
      <p:sp>
        <p:nvSpPr>
          <p:cNvPr id="68" name="Shape 57"/>
          <p:cNvSpPr/>
          <p:nvPr/>
        </p:nvSpPr>
        <p:spPr>
          <a:xfrm>
            <a:off x="2712110" y="5705856"/>
            <a:ext cx="0" cy="475488"/>
          </a:xfrm>
          <a:prstGeom prst="line">
            <a:avLst/>
          </a:prstGeom>
          <a:noFill/>
          <a:ln w="12700">
            <a:solidFill>
              <a:srgbClr val="DBE3EE"/>
            </a:solidFill>
            <a:prstDash val="solid"/>
          </a:ln>
        </p:spPr>
      </p:sp>
      <p:sp>
        <p:nvSpPr>
          <p:cNvPr id="69" name="Text 58"/>
          <p:cNvSpPr/>
          <p:nvPr/>
        </p:nvSpPr>
        <p:spPr>
          <a:xfrm>
            <a:off x="2712110" y="5650992"/>
            <a:ext cx="22549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箱/h</a:t>
            </a:r>
            <a:endParaRPr lang="en-US" sz="2400" dirty="0"/>
          </a:p>
        </p:txBody>
      </p:sp>
      <p:sp>
        <p:nvSpPr>
          <p:cNvPr id="70" name="Text 59"/>
          <p:cNvSpPr/>
          <p:nvPr/>
        </p:nvSpPr>
        <p:spPr>
          <a:xfrm>
            <a:off x="2712110" y="605332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峰值出库能力*</a:t>
            </a:r>
            <a:endParaRPr lang="en-US" sz="950" dirty="0"/>
          </a:p>
        </p:txBody>
      </p:sp>
      <p:sp>
        <p:nvSpPr>
          <p:cNvPr id="71" name="Shape 60"/>
          <p:cNvSpPr/>
          <p:nvPr/>
        </p:nvSpPr>
        <p:spPr>
          <a:xfrm>
            <a:off x="4967021" y="5705856"/>
            <a:ext cx="0" cy="475488"/>
          </a:xfrm>
          <a:prstGeom prst="line">
            <a:avLst/>
          </a:prstGeom>
          <a:noFill/>
          <a:ln w="12700">
            <a:solidFill>
              <a:srgbClr val="DBE3EE"/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4967021" y="5650992"/>
            <a:ext cx="22549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pPr algn="ctr" indent="0" marL="0">
              <a:buNone/>
            </a:pPr>
            <a:r>
              <a:rPr lang="en-US" sz="1300" b="1" dirty="0">
                <a:solidFill>
                  <a:srgbClr val="0E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%+</a:t>
            </a:r>
            <a:endParaRPr lang="en-US" sz="2400" dirty="0"/>
          </a:p>
        </p:txBody>
      </p:sp>
      <p:sp>
        <p:nvSpPr>
          <p:cNvPr id="73" name="Text 62"/>
          <p:cNvSpPr/>
          <p:nvPr/>
        </p:nvSpPr>
        <p:spPr>
          <a:xfrm>
            <a:off x="4967021" y="605332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拣选准确率*</a:t>
            </a:r>
            <a:endParaRPr lang="en-US" sz="950" dirty="0"/>
          </a:p>
        </p:txBody>
      </p:sp>
      <p:sp>
        <p:nvSpPr>
          <p:cNvPr id="74" name="Shape 63"/>
          <p:cNvSpPr/>
          <p:nvPr/>
        </p:nvSpPr>
        <p:spPr>
          <a:xfrm>
            <a:off x="7221931" y="5705856"/>
            <a:ext cx="0" cy="475488"/>
          </a:xfrm>
          <a:prstGeom prst="line">
            <a:avLst/>
          </a:prstGeom>
          <a:noFill/>
          <a:ln w="12700">
            <a:solidFill>
              <a:srgbClr val="DBE3EE"/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7221931" y="5650992"/>
            <a:ext cx="22549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8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70–80</a:t>
            </a:r>
            <a:pPr algn="ctr" indent="0" marL="0">
              <a:buNone/>
            </a:pPr>
            <a:r>
              <a:rPr lang="en-US" sz="1300" b="1" dirty="0">
                <a:solidFill>
                  <a:srgbClr val="EC8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2400" dirty="0"/>
          </a:p>
        </p:txBody>
      </p:sp>
      <p:sp>
        <p:nvSpPr>
          <p:cNvPr id="76" name="Text 65"/>
          <p:cNvSpPr/>
          <p:nvPr/>
        </p:nvSpPr>
        <p:spPr>
          <a:xfrm>
            <a:off x="7221931" y="605332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人工效率提升*</a:t>
            </a:r>
            <a:endParaRPr lang="en-US" sz="950" dirty="0"/>
          </a:p>
        </p:txBody>
      </p:sp>
      <p:sp>
        <p:nvSpPr>
          <p:cNvPr id="77" name="Shape 66"/>
          <p:cNvSpPr/>
          <p:nvPr/>
        </p:nvSpPr>
        <p:spPr>
          <a:xfrm>
            <a:off x="9476842" y="5705856"/>
            <a:ext cx="0" cy="475488"/>
          </a:xfrm>
          <a:prstGeom prst="line">
            <a:avLst/>
          </a:prstGeom>
          <a:noFill/>
          <a:ln w="12700">
            <a:solidFill>
              <a:srgbClr val="DBE3EE"/>
            </a:solidFill>
            <a:prstDash val="solid"/>
          </a:ln>
        </p:spPr>
      </p:sp>
      <p:sp>
        <p:nvSpPr>
          <p:cNvPr id="78" name="Text 67"/>
          <p:cNvSpPr/>
          <p:nvPr/>
        </p:nvSpPr>
        <p:spPr>
          <a:xfrm>
            <a:off x="9476842" y="5650992"/>
            <a:ext cx="22549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</a:t>
            </a:r>
            <a:endParaRPr lang="en-US" sz="2400" dirty="0"/>
          </a:p>
        </p:txBody>
      </p:sp>
      <p:sp>
        <p:nvSpPr>
          <p:cNvPr id="79" name="Text 68"/>
          <p:cNvSpPr/>
          <p:nvPr/>
        </p:nvSpPr>
        <p:spPr>
          <a:xfrm>
            <a:off x="9476842" y="6053328"/>
            <a:ext cx="2254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上游系统接口</a:t>
            </a:r>
            <a:endParaRPr lang="en-US" sz="950" dirty="0"/>
          </a:p>
        </p:txBody>
      </p:sp>
      <p:sp>
        <p:nvSpPr>
          <p:cNvPr id="80" name="Text 69"/>
          <p:cNvSpPr/>
          <p:nvPr/>
        </p:nvSpPr>
        <p:spPr>
          <a:xfrm>
            <a:off x="457200" y="6437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3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效能指标参考海柔 HaiPick / 闪攀系统典型表现，最终以现场实测为准。</a:t>
            </a:r>
            <a:endParaRPr lang="en-US" sz="800" dirty="0"/>
          </a:p>
        </p:txBody>
      </p:sp>
      <p:sp>
        <p:nvSpPr>
          <p:cNvPr id="81" name="Text 70"/>
          <p:cNvSpPr/>
          <p:nvPr/>
        </p:nvSpPr>
        <p:spPr>
          <a:xfrm>
            <a:off x="7159752" y="6437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663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武汉 FC 自动化仓储项目  ·  HAI ROBOTICS 海柔创新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武汉FC 料箱到人系统方案</dc:title>
  <dc:subject>PptxGenJS Presentation</dc:subject>
  <dc:creator>HAI ROBOTICS</dc:creator>
  <cp:lastModifiedBy>HAI ROBOTICS</cp:lastModifiedBy>
  <cp:revision>1</cp:revision>
  <dcterms:created xsi:type="dcterms:W3CDTF">2026-06-23T15:41:22Z</dcterms:created>
  <dcterms:modified xsi:type="dcterms:W3CDTF">2026-06-23T15:41:22Z</dcterms:modified>
</cp:coreProperties>
</file>