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097280"/>
            <a:ext cx="5029200" cy="5029200"/>
          </a:xfrm>
          <a:prstGeom prst="ellipse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0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868680"/>
            <a:ext cx="228600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6868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企业级中台规划方案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7451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WHC 仓库调度平台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FC4EC"/>
                </a:solidFill>
                <a:latin typeface="微软雅黑"/>
                <a:ea typeface="微软雅黑"/>
                <a:cs typeface="微软雅黑"/>
              </a:rPr>
              <a:t>面向多 WMS 异构生态的平台化建设规划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4069080"/>
            <a:ext cx="13716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4434840"/>
            <a:ext cx="1988820" cy="457200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34840"/>
            <a:ext cx="19888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连接适配多厂商 WMS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13532" y="4434840"/>
            <a:ext cx="2743200" cy="457200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3532" y="44348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通用能力上移 · 平台化 WMS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5332" y="4434840"/>
            <a:ext cx="2441448" cy="457200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5332" y="4434840"/>
            <a:ext cx="24414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跨仓协同调度 · 全链路可视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F93B2"/>
                </a:solidFill>
                <a:latin typeface="微软雅黑"/>
                <a:ea typeface="微软雅黑"/>
                <a:cs typeface="微软雅黑"/>
              </a:rPr>
              <a:t>ERP · OMS · PMS · OIC · Master Data  ⇄  WHC  ⇄  WMS / WCS / 机器人 / 3PL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5989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00400"/>
            <a:ext cx="3291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FB4D2"/>
                </a:solidFill>
                <a:latin typeface="微软雅黑"/>
                <a:ea typeface="微软雅黑"/>
                <a:cs typeface="微软雅黑"/>
              </a:rPr>
              <a:t>从战略定位到能力地图，
再到技术架构与分期落地，
形成完整可执行的建设蓝图。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234440"/>
            <a:ext cx="566928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234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1615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背景、挑战与平台定位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6916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多WMS痛点 · A→B渐进式定位 · 中台边界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532888"/>
            <a:ext cx="566928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5328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5146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WHC 平台化能力地图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99008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10 大一级能力域 · L1/L2/L3 能力分解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831335"/>
            <a:ext cx="566928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83133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81304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总体技术架构与核心设计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428853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分层架构 · 适配层 · 双链路调度 · 库存一致性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5129783"/>
            <a:ext cx="566928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512978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5111496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建设路线图与保障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5586983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三期 18 个月 · 治理组织 · KPI/ROI · 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46120"/>
            <a:ext cx="822960" cy="82296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BACKGROUND &amp;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564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背景、挑战与平台定位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8C6DA"/>
                </a:solidFill>
                <a:latin typeface="微软雅黑"/>
                <a:ea typeface="微软雅黑"/>
                <a:cs typeface="微软雅黑"/>
              </a:rPr>
              <a:t>多 WMS 痛点 · A→B 渐进式定位 · 四大中台边界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669280"/>
            <a:ext cx="310896" cy="310896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669280"/>
            <a:ext cx="310896" cy="310896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5669280"/>
            <a:ext cx="310896" cy="310896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  背景与挑战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零售多节点履约：异构 WMS 各自为政，缺乏统一调度大脑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08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零售网络中，大仓 / 门店仓 / FWDC / FC / 云仓 / 3PL 等节点由不同厂商、不同 WMS、不同自动化设备支撑。ERP 与各 WMS 之间缺乏统一的调度与适配层，导致接入碎片化、库存不一致、跨仓协同困难、能力无法复用。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14600"/>
            <a:ext cx="54406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514600"/>
            <a:ext cx="5440680" cy="566928"/>
          </a:xfrm>
          <a:prstGeom prst="round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788920"/>
            <a:ext cx="5440680" cy="292608"/>
          </a:xfrm>
          <a:prstGeom prst="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1460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当前：点对点烟囱式集成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3337560"/>
            <a:ext cx="484632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每接一个新 WMS / 3PL 都要重复开发对接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库存口径分散，OIC 与各仓数据难对齐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出入库策略、波次能力被锁死在各厂商系统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跨仓调拨、缺货改派靠人工协调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设备（存储/拣选/分拣机器人）烟囱式接入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514600"/>
            <a:ext cx="54406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2514600"/>
            <a:ext cx="5440680" cy="566928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788920"/>
            <a:ext cx="5440680" cy="292608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514600"/>
            <a:ext cx="5029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目标：WHC 统一调度大脑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3337560"/>
            <a:ext cx="484632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一套适配框架，新仓/新厂商快速接入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仓内物理库存真相统一，三方对账闭环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通用 WMS 能力上移至平台，可复用可替换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寻仓 / 跨仓协同 / 改派由平台自动编排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多厂商设备标准化协同，人机混合调度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  痛点剖析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五类核心痛点：从“接得慢”到“调不动”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21488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783080"/>
            <a:ext cx="2148840" cy="146304"/>
          </a:xfrm>
          <a:prstGeom prst="round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8740" y="2194560"/>
            <a:ext cx="768096" cy="768096"/>
          </a:xfrm>
          <a:prstGeom prst="ellipse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8740" y="219456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54680"/>
            <a:ext cx="1929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接入碎片化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703320"/>
            <a:ext cx="174650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每个 WMS/3PL/设备私有协议，重复造接口，接入周期以月计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6936" y="1783080"/>
            <a:ext cx="21488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16936" y="1783080"/>
            <a:ext cx="2148840" cy="14630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7308" y="2194560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7308" y="219456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3154680"/>
            <a:ext cx="1929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库存不一致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4" y="3703320"/>
            <a:ext cx="174650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WMS↔WHC↔OIC 多处库存口径，差异靠人工核对，超卖/缺货频发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5504" y="1783080"/>
            <a:ext cx="21488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75504" y="1783080"/>
            <a:ext cx="2148840" cy="146304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65876" y="2194560"/>
            <a:ext cx="768096" cy="768096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5876" y="219456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3154680"/>
            <a:ext cx="1929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能力被锁死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3703320"/>
            <a:ext cx="174650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波次、策略、计费等通用能力散落各厂商 WMS，无法沉淀复用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34072" y="1783080"/>
            <a:ext cx="21488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34072" y="1783080"/>
            <a:ext cx="2148840" cy="146304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24444" y="2194560"/>
            <a:ext cx="768096" cy="768096"/>
          </a:xfrm>
          <a:prstGeom prst="ellipse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44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154680"/>
            <a:ext cx="1929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协同靠人工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703320"/>
            <a:ext cx="174650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跨仓调拨、缺货改派、产能均衡缺乏自动编排，时效与成本不可控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1783080"/>
            <a:ext cx="21488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1783080"/>
            <a:ext cx="2148840" cy="146304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83012" y="2194560"/>
            <a:ext cx="768096" cy="768096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83012" y="219456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3154680"/>
            <a:ext cx="1929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黑盒不可视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3808" y="3703320"/>
            <a:ext cx="174650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全链路状态分散在各系统，缺乏统一控制塔与异常预警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结论：需要在 ERP/中台 与 WMS 之间，建设一个统一适配 + 编排调度 + 能力上移的平台层 —— WHC。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  平台定位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定位：从“集成调度层”渐进演化为“平台化 WMS”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81360" cy="841248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81328"/>
            <a:ext cx="103327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愿景：让任意厂商 WMS 即插即用，让仓储通用能力沉淀为平台资产，让跨仓履约由平台智能调度。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06040"/>
            <a:ext cx="3456432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606040"/>
            <a:ext cx="3456432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108960"/>
            <a:ext cx="3456432" cy="3383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651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A · 连接与调度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090672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适配 · 路由 · 可视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11880"/>
            <a:ext cx="29260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多 WMS / 设备标准适配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订单寻仓与编排路由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仓内库存真相与对账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全链路可视化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3931920"/>
            <a:ext cx="329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2606040"/>
            <a:ext cx="3456432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62272" y="2606040"/>
            <a:ext cx="3456432" cy="841248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62272" y="3108960"/>
            <a:ext cx="3456432" cy="338328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651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A→B · 能力上移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090672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通用能力平台化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611880"/>
            <a:ext cx="29260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波次 / 出入库策略上移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3PL 计费结算上移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跨仓协同调度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作业策略中心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3931920"/>
            <a:ext cx="329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2606040"/>
            <a:ext cx="3456432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66175" y="2606040"/>
            <a:ext cx="3456432" cy="84124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5" y="3108960"/>
            <a:ext cx="3456432" cy="3383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2651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B · 平台化 WMS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3090672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厂商 WMS 可替换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3611880"/>
            <a:ext cx="29260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平台承载通用 WMS 能力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厂商WMS退化为执行层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设备直连与人机调度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20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算法驱动智能优化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6305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渐进式路线：先“通”（连得上、看得见），再“调”（调得动、对得准），后“上移”与“变聪明”，控制风险、快速见效。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  系统边界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中台协同：WHC 管“仓库怎么干”，不重复造中台轮子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431" y="1554480"/>
            <a:ext cx="215798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7088"/>
            </a:solidFill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431" y="1554480"/>
            <a:ext cx="109728" cy="868680"/>
          </a:xfrm>
          <a:prstGeom prst="roundRect">
            <a:avLst/>
          </a:prstGeom>
          <a:solidFill>
            <a:srgbClr val="60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311" y="1627632"/>
            <a:ext cx="1901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ERP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311" y="202996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财务/总账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60423" y="2423160"/>
            <a:ext cx="0" cy="365760"/>
          </a:xfrm>
          <a:prstGeom prst="line">
            <a:avLst/>
          </a:prstGeom>
          <a:ln w="20320">
            <a:solidFill>
              <a:srgbClr val="6070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9143" y="1554480"/>
            <a:ext cx="215798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5BC4"/>
            </a:solidFill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9143" y="1554480"/>
            <a:ext cx="109728" cy="868680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2023" y="1627632"/>
            <a:ext cx="1901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PMS 采购订单中台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2023" y="202996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采购·调拨·退供·加工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28135" y="2423160"/>
            <a:ext cx="0" cy="365760"/>
          </a:xfrm>
          <a:prstGeom prst="line">
            <a:avLst/>
          </a:prstGeom>
          <a:ln w="20320">
            <a:solidFill>
              <a:srgbClr val="445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16855" y="1554480"/>
            <a:ext cx="215798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5BA8"/>
            </a:solidFill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6855" y="1554480"/>
            <a:ext cx="1097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9735" y="1627632"/>
            <a:ext cx="1901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OMS 销售订单中台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9735" y="202996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C 端销售履约单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5847" y="2423160"/>
            <a:ext cx="0" cy="365760"/>
          </a:xfrm>
          <a:prstGeom prst="line">
            <a:avLst/>
          </a:prstGeom>
          <a:ln w="20320">
            <a:solidFill>
              <a:srgbClr val="1C5B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4567" y="1554480"/>
            <a:ext cx="215798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C2A6"/>
            </a:solidFill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84567" y="1554480"/>
            <a:ext cx="109728" cy="86868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7447" y="1627632"/>
            <a:ext cx="1901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OIC 全渠道库存中台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447" y="202996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渠道可用量·ATP·共享前置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63559" y="2423160"/>
            <a:ext cx="0" cy="365760"/>
          </a:xfrm>
          <a:prstGeom prst="line">
            <a:avLst/>
          </a:prstGeom>
          <a:ln w="20320">
            <a:solidFill>
              <a:srgbClr val="18C2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2279" y="1554480"/>
            <a:ext cx="2157984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A6BE0"/>
            </a:solidFill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52279" y="1554480"/>
            <a:ext cx="109728" cy="868680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5159" y="1627632"/>
            <a:ext cx="1901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Master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5159" y="202996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货品·仓网·线路与时效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631271" y="2423160"/>
            <a:ext cx="0" cy="365760"/>
          </a:xfrm>
          <a:prstGeom prst="line">
            <a:avLst/>
          </a:prstGeom>
          <a:ln w="20320">
            <a:solidFill>
              <a:srgbClr val="8A6B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81431" y="2788920"/>
            <a:ext cx="11228832" cy="1508760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471" y="28895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WHC 仓库调度平台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471" y="3310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适配 · 编排 · 作业策略 · 库存真相 · 计费 · 控制塔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471" y="3803904"/>
            <a:ext cx="969264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471" y="3803904"/>
            <a:ext cx="9692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接入适配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98751" y="3803904"/>
            <a:ext cx="114300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98751" y="3803904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双链路编排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9767" y="3803904"/>
            <a:ext cx="114300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69767" y="3803904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库存一致性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40783" y="3803904"/>
            <a:ext cx="969264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40783" y="3803904"/>
            <a:ext cx="9692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作业调度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38063" y="3803904"/>
            <a:ext cx="114300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38063" y="3803904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标准化映射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09079" y="3803904"/>
            <a:ext cx="114300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9079" y="3803904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3PL计费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80095" y="3803904"/>
            <a:ext cx="795528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80095" y="3803904"/>
            <a:ext cx="7955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控制塔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89904" y="4297680"/>
            <a:ext cx="0" cy="320040"/>
          </a:xfrm>
          <a:prstGeom prst="line">
            <a:avLst/>
          </a:prstGeom>
          <a:ln w="20320">
            <a:solidFill>
              <a:srgbClr val="2E7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83767" y="4617720"/>
            <a:ext cx="2468880" cy="841248"/>
          </a:xfrm>
          <a:prstGeom prst="roundRect">
            <a:avLst/>
          </a:prstGeom>
          <a:solidFill>
            <a:srgbClr val="F6F9FD"/>
          </a:solidFill>
          <a:ln w="1524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6647" y="4681728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WMS-A / B / 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647" y="50749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多家异构 WMS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35527" y="4617720"/>
            <a:ext cx="2468880" cy="841248"/>
          </a:xfrm>
          <a:prstGeom prst="roundRect">
            <a:avLst/>
          </a:prstGeom>
          <a:solidFill>
            <a:srgbClr val="F6F9FD"/>
          </a:solidFill>
          <a:ln w="1524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18407" y="4681728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WCS / WES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18407" y="50749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仓控/执行系统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7287" y="4617720"/>
            <a:ext cx="2468880" cy="841248"/>
          </a:xfrm>
          <a:prstGeom prst="roundRect">
            <a:avLst/>
          </a:prstGeom>
          <a:solidFill>
            <a:srgbClr val="F6F9FD"/>
          </a:solidFill>
          <a:ln w="15240">
            <a:solidFill>
              <a:srgbClr val="16B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0167" y="4681728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机器人（多厂商）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0167" y="50749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存储·拣选·分拣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39047" y="4617720"/>
            <a:ext cx="2468880" cy="841248"/>
          </a:xfrm>
          <a:prstGeom prst="roundRect">
            <a:avLst/>
          </a:prstGeom>
          <a:solidFill>
            <a:srgbClr val="F6F9FD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21927" y="4681728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3PL 系统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21927" y="50749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三方仓/计费对账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" y="5650992"/>
            <a:ext cx="10881360" cy="713232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650992"/>
            <a:ext cx="10515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E2446"/>
                </a:solidFill>
                <a:latin typeface="微软雅黑"/>
                <a:ea typeface="微软雅黑"/>
                <a:cs typeface="微软雅黑"/>
              </a:rPr>
              <a:t>边界红线：OMS/PMS 管订单业务 · OIC 管渠道库存账 · Master Data 管货品/仓网/线路时效 · WHC 只做仓库执行编排 + 多WMS标准化 + 仓内物理库存真相 + 调度（消费而非重建以上中台能力）。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01  设计原则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六项设计原则：可接入、可复用、可替换、可演进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91640"/>
            <a:ext cx="128016" cy="17830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1984248"/>
            <a:ext cx="566928" cy="566928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84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02536"/>
            <a:ext cx="2340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适配解耦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679192"/>
            <a:ext cx="2935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厂商差异收敛在适配层，核心域不感知具体 WMS/设备厂商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91640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691640"/>
            <a:ext cx="128016" cy="178308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36592" y="1984248"/>
            <a:ext cx="566928" cy="566928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984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002536"/>
            <a:ext cx="2340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能力上移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679192"/>
            <a:ext cx="2935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通用 WMS 能力沉淀为平台资产，一次建设、多仓复用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691640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9872" y="1691640"/>
            <a:ext cx="128016" cy="1783080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7344" y="1984248"/>
            <a:ext cx="566928" cy="566928"/>
          </a:xfrm>
          <a:prstGeom prst="ellipse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19842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002536"/>
            <a:ext cx="2340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中台协同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679192"/>
            <a:ext cx="2935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消费 OMS/PMS/OIC/MDM 能力，明确边界、不重复造轮子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30752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3730752"/>
            <a:ext cx="128016" cy="178308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4023360"/>
            <a:ext cx="566928" cy="566928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023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041648"/>
            <a:ext cx="2340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事件驱动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718304"/>
            <a:ext cx="2935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统一事件模型 + 消息总线，状态实时、链路可追踪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730752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89120" y="3730752"/>
            <a:ext cx="128016" cy="17830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36592" y="4023360"/>
            <a:ext cx="566928" cy="5669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4023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8112" y="4041648"/>
            <a:ext cx="2340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配置优先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718304"/>
            <a:ext cx="2935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规则/策略/流程可配置、低代码编排，减少硬编码与定制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2" y="3730752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19872" y="3730752"/>
            <a:ext cx="128016" cy="1783080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67344" y="4023360"/>
            <a:ext cx="566928" cy="566928"/>
          </a:xfrm>
          <a:prstGeom prst="ellipse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4023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864" y="4041648"/>
            <a:ext cx="2340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渐进演进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4718304"/>
            <a:ext cx="29352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A→B 分期推进，单仓试点可灰度，厂商 WMS 可平滑替换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46120"/>
            <a:ext cx="822960" cy="82296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CAPABILITY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564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WHC 平台化能力地图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8C6DA"/>
                </a:solidFill>
                <a:latin typeface="微软雅黑"/>
                <a:ea typeface="微软雅黑"/>
                <a:cs typeface="微软雅黑"/>
              </a:rPr>
              <a:t>10 大一级能力域 · L1 / L2 / L3 能力分解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669280"/>
            <a:ext cx="310896" cy="310896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669280"/>
            <a:ext cx="310896" cy="310896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5669280"/>
            <a:ext cx="310896" cy="310896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02  能力地图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WHC 平台化能力全景：10 大一级能力域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蓝色＝平台底座与连接 · 绿/青＝核心调度与上移能力 · 琥珀/紫＝增值与智能能力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2157984" cy="45720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103120"/>
            <a:ext cx="2157984" cy="2286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874519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40487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接入与适配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97180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万能接口，屏蔽厂商差异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6557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└ 4 项二级能力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1874519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35224" y="1874519"/>
            <a:ext cx="2157984" cy="45720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35224" y="2103120"/>
            <a:ext cx="2157984" cy="2286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1874519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240487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双链路履约编排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297180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调度大脑（出库 + 入库）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384" y="346557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└ 4 项二级能力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79" y="1874519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12079" y="1874519"/>
            <a:ext cx="2157984" cy="45720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79" y="2103120"/>
            <a:ext cx="2157984" cy="228600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1874519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240487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仓内库存真相与一致性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97180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物理库存真相（上报 OIC）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46557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└ 4 项二级能力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88936" y="1874519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88936" y="1874519"/>
            <a:ext cx="2157984" cy="457200"/>
          </a:xfrm>
          <a:prstGeom prst="round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88936" y="2103120"/>
            <a:ext cx="2157984" cy="228600"/>
          </a:xfrm>
          <a:prstGeom prst="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1874519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240487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作业调度与策略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297180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通用作业能力上移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6096" y="346557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77C9"/>
                </a:solidFill>
                <a:latin typeface="微软雅黑"/>
                <a:ea typeface="微软雅黑"/>
                <a:cs typeface="微软雅黑"/>
              </a:rPr>
              <a:t>└ 4 项二级能力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65792" y="1874519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65792" y="1874519"/>
            <a:ext cx="2157984" cy="457200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5792" y="2103120"/>
            <a:ext cx="2157984" cy="228600"/>
          </a:xfrm>
          <a:prstGeom prst="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02952" y="1874519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240487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标准化与映射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97180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厂商码 ↔ MDM 标准码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346557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└ 4 项二级能力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4069080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8368" y="4069080"/>
            <a:ext cx="2157984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4297680"/>
            <a:ext cx="2157984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40690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" y="459943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承运与配送协同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" y="516636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出库到交付闭环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" y="566013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└ 3 项二级能力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35224" y="4069080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935224" y="4069080"/>
            <a:ext cx="2157984" cy="457200"/>
          </a:xfrm>
          <a:prstGeom prst="round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35224" y="4297680"/>
            <a:ext cx="2157984" cy="228600"/>
          </a:xfrm>
          <a:prstGeom prst="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72384" y="40690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72384" y="459943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3PL 计费与结算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2384" y="516636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三方仓成本可算可对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72384" y="566013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└ 3 项二级能力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12079" y="4069080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212079" y="4069080"/>
            <a:ext cx="2157984" cy="457200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2079" y="4297680"/>
            <a:ext cx="2157984" cy="228600"/>
          </a:xfrm>
          <a:prstGeom prst="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40690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459943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可视化与控制塔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516636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全链路看得见、管得住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49240" y="566013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45BC4"/>
                </a:solidFill>
                <a:latin typeface="微软雅黑"/>
                <a:ea typeface="微软雅黑"/>
                <a:cs typeface="微软雅黑"/>
              </a:rPr>
              <a:t>└ 3 项二级能力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88936" y="4069080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488936" y="4069080"/>
            <a:ext cx="2157984" cy="457200"/>
          </a:xfrm>
          <a:prstGeom prst="roundRect">
            <a:avLst/>
          </a:prstGeom>
          <a:solidFill>
            <a:srgbClr val="E5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88936" y="4297680"/>
            <a:ext cx="2157984" cy="228600"/>
          </a:xfrm>
          <a:prstGeom prst="rect">
            <a:avLst/>
          </a:prstGeom>
          <a:solidFill>
            <a:srgbClr val="E5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6096" y="40690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459943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数据与智能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26096" y="516636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数据驱动持续优化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566013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56E9B"/>
                </a:solidFill>
                <a:latin typeface="微软雅黑"/>
                <a:ea typeface="微软雅黑"/>
                <a:cs typeface="微软雅黑"/>
              </a:rPr>
              <a:t>└ 3 项二级能力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65792" y="4069080"/>
            <a:ext cx="2157984" cy="19933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765792" y="4069080"/>
            <a:ext cx="2157984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65792" y="4297680"/>
            <a:ext cx="2157984" cy="228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2952" y="40690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L1-10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2" y="4599432"/>
            <a:ext cx="18836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平台与治理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02952" y="5166360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多租户技术底座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02952" y="5660136"/>
            <a:ext cx="1883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A9D8F"/>
                </a:solidFill>
                <a:latin typeface="微软雅黑"/>
                <a:ea typeface="微软雅黑"/>
                <a:cs typeface="微软雅黑"/>
              </a:rPr>
              <a:t>└ 4 项二级能力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02  能力地图 · L1 / L2 / 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能力详解（一）：接入适配 · 双链路编排 · 库存一致性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2240280" cy="1478279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0078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接入与适配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7556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万能接口，屏蔽厂商差异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08376" y="1554480"/>
            <a:ext cx="8531352" cy="14782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45536" y="1762125"/>
            <a:ext cx="91440" cy="91440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64592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WMS 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164592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适配器框架/SDK · 协议适配(API/MQ/EDI/File) · 报文转换 · 字段映射 · 灰度发布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2696" y="196977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45536" y="2085975"/>
            <a:ext cx="91440" cy="91440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196977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设备 / WCS / WES 接入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196977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多厂商机器人(存储·拣选·分拣) · WCS 标准指令 · 设备状态采集 · 能力注册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82696" y="229362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45536" y="2409825"/>
            <a:ext cx="91440" cy="91440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29362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上游接入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229362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OMS / PMS / OIC / MDM / ERP 对接 · 事件订阅 · 报文安全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82696" y="261747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145536" y="2733675"/>
            <a:ext cx="91440" cy="91440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261747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适配器治理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261747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注册中心 · 健康监控 · 限流熔断 · 重连补偿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215640"/>
            <a:ext cx="2240280" cy="1478279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36194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67284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双链路履约编排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23672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调度大脑（出库 + 入库）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8376" y="3215640"/>
            <a:ext cx="8531352" cy="14782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5536" y="3423285"/>
            <a:ext cx="91440" cy="91440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30708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智能寻仓 / 分仓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330708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读取 MDM 线路与时效 · 拆合单落地 · 就近 / 成本 / SLA 策略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82696" y="363093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145536" y="3747135"/>
            <a:ext cx="91440" cy="91440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363093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出库链路编排（OMS 驱动）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63093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波次 / 任务编排 · 拣选 · 复核 · 打包 · 出库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82696" y="395478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145536" y="4070985"/>
            <a:ext cx="91440" cy="91440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5848" y="395478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入库链路编排（PMS 驱动）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71616" y="395478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采购收货 · 调拨双侧协同 · 退供 · 加工 / VAS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82696" y="427863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145536" y="4394835"/>
            <a:ext cx="91440" cy="91440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55848" y="427863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异常与改派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1616" y="427863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异常识别分类 · 自动改派 · 工单流转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876800"/>
            <a:ext cx="2240280" cy="1478279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502310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533400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仓内库存真相与一致性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5897879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物理库存真相（上报 OIC）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08376" y="4876800"/>
            <a:ext cx="8531352" cy="14782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145536" y="5084444"/>
            <a:ext cx="91440" cy="91440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55848" y="4968239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多 WMS 物理库存聚合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71616" y="4968239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实时同步 · 库存快照 · 库位 / 批次 / 序列号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282696" y="529209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145536" y="5408295"/>
            <a:ext cx="91440" cy="91440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55848" y="529209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三方对账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71616" y="529209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WMS ↔ WHC ↔ OIC 对账 · 差异告警 · 自动 / 人工冲正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282696" y="561594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145536" y="5732144"/>
            <a:ext cx="91440" cy="91440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55848" y="5615939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库存事件上报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5615939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标准库存事件 · 实时上报 OIC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282696" y="5939789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145536" y="6055994"/>
            <a:ext cx="91440" cy="91440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55848" y="5939789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盘点 / 冻结协同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71616" y="5939789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盘点协同 · 冻结 / 解冻 · 调整单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02  能力地图 · L1 / L2 / 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能力详解（二）：作业调度 · 标准化映射 · 承运配送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2240280" cy="1478279"/>
          </a:xfrm>
          <a:prstGeom prst="round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0078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作业调度与策略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7556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通用作业能力上移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08376" y="1554480"/>
            <a:ext cx="8531352" cy="14782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45536" y="1762125"/>
            <a:ext cx="91440" cy="91440"/>
          </a:xfrm>
          <a:prstGeom prst="ellipse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64592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入库策略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164592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预约 · 收货 · 质检 · 上架策略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2696" y="196977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45536" y="2085975"/>
            <a:ext cx="91440" cy="91440"/>
          </a:xfrm>
          <a:prstGeom prst="ellipse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196977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出库策略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196977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波次合并 · 拣选路径 · 复核打包策略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82696" y="229362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45536" y="2409825"/>
            <a:ext cx="91440" cy="91440"/>
          </a:xfrm>
          <a:prstGeom prst="ellipse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29362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资源调度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229362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人 / 设备 / 库区调度 · 产能均衡 · 优先级 / SLA 调度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82696" y="261747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145536" y="2733675"/>
            <a:ext cx="91440" cy="91440"/>
          </a:xfrm>
          <a:prstGeom prst="ellipse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261747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自动化协同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261747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多厂商机器人协同 · 人机混合 · 任务下发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215640"/>
            <a:ext cx="2240280" cy="1478279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36194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367284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标准化与映射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23672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厂商码 ↔ MDM 标准码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8376" y="3215640"/>
            <a:ext cx="8531352" cy="14782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5536" y="3423285"/>
            <a:ext cx="91440" cy="91440"/>
          </a:xfrm>
          <a:prstGeom prst="ellipse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30708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编码映射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330708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厂商 WMS 编码 ↔ MDM 标准码 · 商品 / 库位 / 容器映射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82696" y="363093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145536" y="3747135"/>
            <a:ext cx="91440" cy="91440"/>
          </a:xfrm>
          <a:prstGeom prst="ellipse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363093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状态与事件标准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63093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统一状态机 · 标准事件模型 · 版本管理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82696" y="395478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145536" y="4070985"/>
            <a:ext cx="91440" cy="91440"/>
          </a:xfrm>
          <a:prstGeom prst="ellipse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5848" y="395478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字典中心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71616" y="395478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业务字典 · 单位 / 计量 · 异常码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82696" y="427863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145536" y="4394835"/>
            <a:ext cx="91440" cy="91440"/>
          </a:xfrm>
          <a:prstGeom prst="ellipse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55848" y="4278630"/>
            <a:ext cx="2606040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主数据消费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1616" y="4278630"/>
            <a:ext cx="5330952" cy="3238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引用 MDM 的 货品 / 仓网 / 线路与时效（非主数据源）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876800"/>
            <a:ext cx="2240280" cy="1478279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502310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533400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承运与配送协同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5897879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出库到交付闭环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08376" y="4876800"/>
            <a:ext cx="8531352" cy="14782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145536" y="5138419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55848" y="4968239"/>
            <a:ext cx="2606040" cy="431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运力对接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71616" y="4968239"/>
            <a:ext cx="5330952" cy="431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TMS / 承运商对接 · 运力分配 · 面单 / 合规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282696" y="5400039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145536" y="5570219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55848" y="5400039"/>
            <a:ext cx="2606040" cy="431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出库交接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71616" y="5400039"/>
            <a:ext cx="5330952" cy="431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集货 / 交接 · 轨迹回传 · 签收闭环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282696" y="583184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145536" y="6002019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55848" y="5831840"/>
            <a:ext cx="2606040" cy="431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逆向协同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5831840"/>
            <a:ext cx="5330952" cy="431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退货入库 · 换货协同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02  能力地图 · L1 / L2 / 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能力详解（三）：3PL计费 · 控制塔 · 数据智能 · 平台治理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2240280" cy="1062990"/>
          </a:xfrm>
          <a:prstGeom prst="round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0078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3PL 计费与结算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6027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三方仓成本可算可对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08376" y="1554480"/>
            <a:ext cx="8531352" cy="10629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45536" y="1746885"/>
            <a:ext cx="91440" cy="91440"/>
          </a:xfrm>
          <a:prstGeom prst="ellipse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64592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计量采集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164592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操作量 / 存储量 / 增值服务量采集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2696" y="193929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45536" y="2040255"/>
            <a:ext cx="91440" cy="91440"/>
          </a:xfrm>
          <a:prstGeom prst="ellipse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193929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计费引擎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193929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计费规则 · 阶梯 / 合同价 · 费用试算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82696" y="223266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45536" y="2333625"/>
            <a:ext cx="91440" cy="91440"/>
          </a:xfrm>
          <a:prstGeom prst="ellipse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23266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对账结算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223266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账单生成 · 3PL 对账 · 争议处理 · 结算输出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800350"/>
            <a:ext cx="2240280" cy="1062990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294665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25755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可视化与控制塔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406139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全链路看得见、管得住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08376" y="2800350"/>
            <a:ext cx="8531352" cy="10629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45536" y="2992755"/>
            <a:ext cx="91440" cy="91440"/>
          </a:xfrm>
          <a:prstGeom prst="ellipse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289179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全链路可视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616" y="289179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订单 / 库存 / 作业追踪 · 时间轴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82696" y="318516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145536" y="3286125"/>
            <a:ext cx="91440" cy="91440"/>
          </a:xfrm>
          <a:prstGeom prst="ellipse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318516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KPI 看板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318516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仓库健康度 · 履约 / 库存 / 产能指标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82696" y="347853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145536" y="3579495"/>
            <a:ext cx="91440" cy="91440"/>
          </a:xfrm>
          <a:prstGeom prst="ellipse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347853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监控告警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47853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实时监控 · 阈值告警 · 大屏 / 数字孪生（后期）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046220"/>
            <a:ext cx="2240280" cy="1062990"/>
          </a:xfrm>
          <a:prstGeom prst="roundRect">
            <a:avLst/>
          </a:prstGeom>
          <a:solidFill>
            <a:srgbClr val="E5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419252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450342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数据与智能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465201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数据驱动持续优化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08376" y="4046220"/>
            <a:ext cx="8531352" cy="10629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5536" y="4238624"/>
            <a:ext cx="91440" cy="91440"/>
          </a:xfrm>
          <a:prstGeom prst="ellipse">
            <a:avLst/>
          </a:prstGeom>
          <a:solidFill>
            <a:srgbClr val="E5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55848" y="4137659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数据底座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1616" y="4137659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采集 / ODS / 数仓 · 指标体系 · BI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282696" y="443103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145536" y="4531995"/>
            <a:ext cx="91440" cy="91440"/>
          </a:xfrm>
          <a:prstGeom prst="ellipse">
            <a:avLst/>
          </a:prstGeom>
          <a:solidFill>
            <a:srgbClr val="E5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55848" y="4431030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预测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71616" y="4431030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单量 / 产能 / 库存预测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282696" y="4724400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145536" y="4825364"/>
            <a:ext cx="91440" cy="91440"/>
          </a:xfrm>
          <a:prstGeom prst="ellipse">
            <a:avLst/>
          </a:prstGeom>
          <a:solidFill>
            <a:srgbClr val="E5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55848" y="4724399"/>
            <a:ext cx="2606040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智能优化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71616" y="4724399"/>
            <a:ext cx="5330952" cy="2933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寻仓 / 路径 / 产能优化 · 异常检测 · 智能改派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292090"/>
            <a:ext cx="2240280" cy="106299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" y="5438394"/>
            <a:ext cx="1874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F4FF"/>
                </a:solidFill>
                <a:latin typeface="微软雅黑"/>
                <a:ea typeface="微软雅黑"/>
                <a:cs typeface="微软雅黑"/>
              </a:rPr>
              <a:t>L1-10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" y="5749290"/>
            <a:ext cx="1874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平台与治理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" y="589788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DCE8F6"/>
                </a:solidFill>
                <a:latin typeface="微软雅黑"/>
                <a:ea typeface="微软雅黑"/>
                <a:cs typeface="微软雅黑"/>
              </a:rPr>
              <a:t>多租户技术底座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08376" y="5292090"/>
            <a:ext cx="8531352" cy="10629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145536" y="5447823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55848" y="5383530"/>
            <a:ext cx="2606040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多租户 / 组织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5383530"/>
            <a:ext cx="5330952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自营 + 3PL 多租户 · 数据隔离 · 组织权限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282696" y="5603557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145536" y="5667851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55848" y="5603557"/>
            <a:ext cx="2606040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配置与低代码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71616" y="5603557"/>
            <a:ext cx="5330952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规则中心 · 配置中心 · 流程可视化编排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282696" y="5823584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145536" y="5887878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55848" y="5823585"/>
            <a:ext cx="2606040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开放平台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71616" y="5823585"/>
            <a:ext cx="5330952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API 网关 · 开发者门户 · Webhook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282696" y="6043612"/>
            <a:ext cx="8028432" cy="0"/>
          </a:xfrm>
          <a:prstGeom prst="line">
            <a:avLst/>
          </a:prstGeom>
          <a:ln w="9525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3145536" y="6107906"/>
            <a:ext cx="91440" cy="914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55848" y="6043612"/>
            <a:ext cx="2606040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可观测 / 高可用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71616" y="6043612"/>
            <a:ext cx="5330952" cy="2200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L3 · 日志 / 链路 / 监控 · 灰度 · 容灾弹性 · 安全审计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46120"/>
            <a:ext cx="822960" cy="82296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ARCHITECTURE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564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总体技术架构与核心设计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8C6DA"/>
                </a:solidFill>
                <a:latin typeface="微软雅黑"/>
                <a:ea typeface="微软雅黑"/>
                <a:cs typeface="微软雅黑"/>
              </a:rPr>
              <a:t>分层架构 · 适配层 · 双链路调度 · 库存一致性 · 集成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669280"/>
            <a:ext cx="310896" cy="310896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669280"/>
            <a:ext cx="310896" cy="310896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5669280"/>
            <a:ext cx="310896" cy="310896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  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六层架构：接入 · 适配 · 能力 · 数据 · 平台底座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81360" cy="56692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481328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上游 / 中台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572768"/>
            <a:ext cx="707745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572768"/>
            <a:ext cx="70774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ERP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6121" y="1572768"/>
            <a:ext cx="128564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6121" y="1572768"/>
            <a:ext cx="12856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OMS 销售单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572768"/>
            <a:ext cx="128564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572768"/>
            <a:ext cx="12856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PMS 采购单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6870" y="1572768"/>
            <a:ext cx="1430121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6870" y="1572768"/>
            <a:ext cx="143012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OIC 渠道库存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72768"/>
            <a:ext cx="3452774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572768"/>
            <a:ext cx="345277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Master Data 货品·仓网·线路时效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9904" y="2048256"/>
            <a:ext cx="0" cy="164592"/>
          </a:xfrm>
          <a:prstGeom prst="line">
            <a:avLst/>
          </a:prstGeom>
          <a:ln w="17780">
            <a:solidFill>
              <a:srgbClr val="6070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2212848"/>
            <a:ext cx="10881360" cy="56692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2212848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接入开放层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8648" y="2304288"/>
            <a:ext cx="1141171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8648" y="2304288"/>
            <a:ext cx="11411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API 网关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9547" y="2304288"/>
            <a:ext cx="128564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9547" y="2304288"/>
            <a:ext cx="12856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事件总线/订阅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44921" y="2304288"/>
            <a:ext cx="99669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4921" y="2304288"/>
            <a:ext cx="9966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开发者门户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1345" y="2304288"/>
            <a:ext cx="128564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1345" y="2304288"/>
            <a:ext cx="12856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Webhook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304288"/>
            <a:ext cx="852220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304288"/>
            <a:ext cx="8522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安全认证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889504"/>
            <a:ext cx="10881360" cy="1481328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294436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核心能力层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" y="3310128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331012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双链路编排引擎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" y="3310128"/>
            <a:ext cx="82296" cy="420624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20439" y="3310128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39" y="331012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智能寻仓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20439" y="3310128"/>
            <a:ext cx="82296" cy="420624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53912" y="3310128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53912" y="331012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作业调度与策略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3912" y="3310128"/>
            <a:ext cx="82296" cy="420624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87384" y="3310128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87384" y="3310128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仓内库存一致性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87384" y="3310128"/>
            <a:ext cx="82296" cy="420624"/>
          </a:xfrm>
          <a:prstGeom prst="round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86968" y="3822191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" y="3822191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标准化与映射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" y="3822191"/>
            <a:ext cx="82296" cy="420624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20439" y="3822191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39" y="3822191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3PL 计费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20439" y="3822191"/>
            <a:ext cx="82296" cy="42062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53912" y="3822191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53912" y="3822191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控制塔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3912" y="3822191"/>
            <a:ext cx="82296" cy="420624"/>
          </a:xfrm>
          <a:prstGeom prst="round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787384" y="3822191"/>
            <a:ext cx="254203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87384" y="3822191"/>
            <a:ext cx="25420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数据与智能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87384" y="3822191"/>
            <a:ext cx="82296" cy="420624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8368" y="4498848"/>
            <a:ext cx="10881360" cy="566928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" y="4498848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适配层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98648" y="4590288"/>
            <a:ext cx="128564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98648" y="4590288"/>
            <a:ext cx="12856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WMS 适配器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94022" y="4590288"/>
            <a:ext cx="1863547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4022" y="4590288"/>
            <a:ext cx="186354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WCS/WES 适配器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7297" y="4590288"/>
            <a:ext cx="1863547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7297" y="4590288"/>
            <a:ext cx="186354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机器人适配器(多厂商)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40572" y="4590288"/>
            <a:ext cx="128564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40572" y="4590288"/>
            <a:ext cx="12856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3PL 适配器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35947" y="4590288"/>
            <a:ext cx="1719072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35947" y="4590288"/>
            <a:ext cx="17190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协议/报文/字段映射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089904" y="5065776"/>
            <a:ext cx="0" cy="164592"/>
          </a:xfrm>
          <a:prstGeom prst="line">
            <a:avLst/>
          </a:prstGeom>
          <a:ln w="17780">
            <a:solidFill>
              <a:srgbClr val="6070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58368" y="5230368"/>
            <a:ext cx="10881360" cy="512064"/>
          </a:xfrm>
          <a:prstGeom prst="round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" y="5230368"/>
            <a:ext cx="19202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执行层(外部)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898648" y="5294376"/>
            <a:ext cx="157459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98648" y="5294376"/>
            <a:ext cx="15745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88"/>
                </a:solidFill>
                <a:latin typeface="微软雅黑"/>
                <a:ea typeface="微软雅黑"/>
                <a:cs typeface="微软雅黑"/>
              </a:rPr>
              <a:t>WMS-A/B/C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82972" y="5294376"/>
            <a:ext cx="1574596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82972" y="5294376"/>
            <a:ext cx="15745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88"/>
                </a:solidFill>
                <a:latin typeface="微软雅黑"/>
                <a:ea typeface="微软雅黑"/>
                <a:cs typeface="微软雅黑"/>
              </a:rPr>
              <a:t>WCS / WES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67297" y="5294376"/>
            <a:ext cx="1863547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7297" y="5294376"/>
            <a:ext cx="186354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88"/>
                </a:solidFill>
                <a:latin typeface="微软雅黑"/>
                <a:ea typeface="微软雅黑"/>
                <a:cs typeface="微软雅黑"/>
              </a:rPr>
              <a:t>存储·拣选·分拣机器人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40572" y="5294376"/>
            <a:ext cx="1141171" cy="3840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40572" y="5294376"/>
            <a:ext cx="11411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88"/>
                </a:solidFill>
                <a:latin typeface="微软雅黑"/>
                <a:ea typeface="微软雅黑"/>
                <a:cs typeface="微软雅黑"/>
              </a:rPr>
              <a:t>3PL 系统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58368" y="5870448"/>
            <a:ext cx="10881360" cy="457200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9536" y="587044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平台底座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898648" y="5934456"/>
            <a:ext cx="676656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98648" y="5934456"/>
            <a:ext cx="6766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多租户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66744" y="5934456"/>
            <a:ext cx="822960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66744" y="593445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配置中心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81144" y="5934456"/>
            <a:ext cx="822960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81144" y="593445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规则引擎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95544" y="5934456"/>
            <a:ext cx="822960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95544" y="593445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流程编排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944" y="5934456"/>
            <a:ext cx="969264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9944" y="5934456"/>
            <a:ext cx="9692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消息中间件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70648" y="5934456"/>
            <a:ext cx="822960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70648" y="593445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数据底座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85048" y="5934456"/>
            <a:ext cx="676656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85048" y="5934456"/>
            <a:ext cx="6766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可观测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53144" y="5934456"/>
            <a:ext cx="969264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53144" y="5934456"/>
            <a:ext cx="9692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灰度/容灾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213848" y="5934456"/>
            <a:ext cx="822960" cy="32918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13848" y="593445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安全审计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  核心设计 · 适配层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适配器框架：一次定义、快速接入、灰度可控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统一适配处理管道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65960"/>
            <a:ext cx="53492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109728" cy="84124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130552"/>
            <a:ext cx="512064" cy="512064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305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75688"/>
            <a:ext cx="4297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接入协议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41448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API / MQ / EDI / File / DB-CDC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78892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90088"/>
            <a:ext cx="53492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2990088"/>
            <a:ext cx="109728" cy="841248"/>
          </a:xfrm>
          <a:prstGeom prst="round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154680"/>
            <a:ext cx="512064" cy="512064"/>
          </a:xfrm>
          <a:prstGeom prst="ellipse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99816"/>
            <a:ext cx="4297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报文解析与转换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465576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JSON / XML / EDI / 自定义 ⇄ 标准报文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1304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14216"/>
            <a:ext cx="53492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014216"/>
            <a:ext cx="109728" cy="841248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178808"/>
            <a:ext cx="512064" cy="512064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7880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23944"/>
            <a:ext cx="4297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字段与编码映射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89704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厂商字段/码 ↔ WHC 标准模型 (引用 MDM)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83717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38344"/>
            <a:ext cx="53492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5038344"/>
            <a:ext cx="109728" cy="841248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5202936"/>
            <a:ext cx="512064" cy="512064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0293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148072"/>
            <a:ext cx="4297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校验与补偿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51383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幂等 / 重试 / 重连 / 死信补偿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1965960"/>
            <a:ext cx="5257800" cy="2148840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1214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适配器治理中心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606040"/>
            <a:ext cx="47548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注册中心：</a:t>
            </a:r>
            <a:r>
              <a:rPr sz="115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适配器/能力声明式注册与发现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健康监控：</a:t>
            </a:r>
            <a:r>
              <a:rPr sz="115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心跳 / 成功率 / 时延 / 积压告警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流量治理：</a:t>
            </a:r>
            <a:r>
              <a:rPr sz="115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限流 / 熔断 / 优先级隔离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版本灰度：</a:t>
            </a:r>
            <a:r>
              <a:rPr sz="115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多版本并存 · 按仓灰度切换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251960"/>
            <a:ext cx="5257800" cy="1874519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标准化带来的收益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846320"/>
            <a:ext cx="475488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新 WMS / 3PL 接入周期从“月”级降至“周”级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厂商 WMS 可平滑替换，避免被单一厂商锁定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设备/机器人多厂商统一接入，复用调度能力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适配资产沉淀，跨仓跨项目复用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  核心设计 · 调度编排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双链路编排：寻仓为入口，出/入库各成闭环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881360" cy="713232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3291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智能寻仓 / 分仓引擎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27632"/>
            <a:ext cx="1691640" cy="42062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27632"/>
            <a:ext cx="1691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读取 MDM 线路与时效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627632"/>
            <a:ext cx="1691640" cy="42062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627632"/>
            <a:ext cx="1691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实时库存(L1-3)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27632"/>
            <a:ext cx="1691640" cy="42062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627632"/>
            <a:ext cx="1691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 / SLA 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627632"/>
            <a:ext cx="1691640" cy="420624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627632"/>
            <a:ext cx="1691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拆单 / 合单 / 分仓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487168"/>
            <a:ext cx="53492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2487168"/>
            <a:ext cx="5349240" cy="603504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2788920"/>
            <a:ext cx="5349240" cy="301752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487168"/>
            <a:ext cx="4892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出库链路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00400"/>
            <a:ext cx="4892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▶ 由 OMS 销售履约单驱动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3611880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61188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接单落地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611880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履约单 → 寻仓结果落地到目标仓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" y="4146804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14680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波次/任务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4146804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波次合并 · 任务生成 · 优先级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" y="4681728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68172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拣选复核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4681728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下发 WMS/WCS · 人机协同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5216652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52166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打包出库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5216652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复核 · 打包 · 交接承运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2487168"/>
            <a:ext cx="5349240" cy="3246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72200" y="2487168"/>
            <a:ext cx="5349240" cy="603504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2788920"/>
            <a:ext cx="5349240" cy="301752"/>
          </a:xfrm>
          <a:prstGeom prst="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2487168"/>
            <a:ext cx="4892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入库链路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3200400"/>
            <a:ext cx="4892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45BC4"/>
                </a:solidFill>
                <a:latin typeface="微软雅黑"/>
                <a:ea typeface="微软雅黑"/>
                <a:cs typeface="微软雅黑"/>
              </a:rPr>
              <a:t>▶ 由 PMS 采购/调拨/退供/加工单驱动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3611880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445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61188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接单落地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611880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采购到货 / 调拨 / 退供 / 加工单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4146804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445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14680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预约收货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146804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预约 · 卸货 · 收货 · 质检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4681728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445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68172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上架/加工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681728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上架策略 · VAS 加工作业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5216652"/>
            <a:ext cx="4800600" cy="457200"/>
          </a:xfrm>
          <a:prstGeom prst="roundRect">
            <a:avLst/>
          </a:prstGeom>
          <a:solidFill>
            <a:srgbClr val="F6F9FD"/>
          </a:solidFill>
          <a:ln w="12700">
            <a:solidFill>
              <a:srgbClr val="445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52166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库存确认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216652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库存上报 · 调拨双侧协同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贯穿能力：流程编排(状态机/Workflow) · SAGA 补偿 · 超时重试 · 人工干预节点 · 异常识别与自动改派 · 全程事件驱动。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  核心设计 · 库存一致性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三方对账：WMS 物理真相 → WHC 聚合 → OIC 渠道账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2331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920240"/>
            <a:ext cx="2331720" cy="45720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148840"/>
            <a:ext cx="2331720" cy="2286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920240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WMS（各仓）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8716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物理库存真相
库位/批次/序列号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920240"/>
            <a:ext cx="2331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1920240"/>
            <a:ext cx="2331720" cy="45720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2148840"/>
            <a:ext cx="2331720" cy="228600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20240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WHC 库存聚合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8716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多仓实时聚合
标准库存事件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920240"/>
            <a:ext cx="23317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0" y="1920240"/>
            <a:ext cx="2331720" cy="457200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148840"/>
            <a:ext cx="2331720" cy="228600"/>
          </a:xfrm>
          <a:prstGeom prst="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920240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OIC 渠道库存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48716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渠道可用量 / ATP
共享 / 前置仓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37560" y="2633472"/>
            <a:ext cx="1600200" cy="0"/>
          </a:xfrm>
          <a:prstGeom prst="line">
            <a:avLst/>
          </a:prstGeom>
          <a:ln w="25400">
            <a:solidFill>
              <a:srgbClr val="2E77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83280" y="22860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2E77C9"/>
                </a:solidFill>
                <a:latin typeface="微软雅黑"/>
                <a:ea typeface="微软雅黑"/>
                <a:cs typeface="微软雅黑"/>
              </a:rPr>
              <a:t>实时同步/快照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69480" y="2633472"/>
            <a:ext cx="1600200" cy="0"/>
          </a:xfrm>
          <a:prstGeom prst="line">
            <a:avLst/>
          </a:prstGeom>
          <a:ln w="25400">
            <a:solidFill>
              <a:srgbClr val="18C2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0" y="22860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库存事件上报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703320"/>
            <a:ext cx="6720840" cy="868680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370332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对账引擎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950208"/>
            <a:ext cx="146304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95020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定时/实时对账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950208"/>
            <a:ext cx="146304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95020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差异识别告警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950208"/>
            <a:ext cx="1463040" cy="384048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95020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自动/人工冲正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67128" y="3337560"/>
            <a:ext cx="2039112" cy="365760"/>
          </a:xfrm>
          <a:prstGeom prst="line">
            <a:avLst/>
          </a:prstGeom>
          <a:ln w="15240">
            <a:solidFill>
              <a:srgbClr val="6070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99048" y="3337560"/>
            <a:ext cx="0" cy="365760"/>
          </a:xfrm>
          <a:prstGeom prst="line">
            <a:avLst/>
          </a:prstGeom>
          <a:ln w="15240">
            <a:solidFill>
              <a:srgbClr val="6070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229600" y="3337560"/>
            <a:ext cx="1801368" cy="365760"/>
          </a:xfrm>
          <a:prstGeom prst="line">
            <a:avLst/>
          </a:prstGeom>
          <a:ln w="15240">
            <a:solidFill>
              <a:srgbClr val="6070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8368" y="480060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" y="4800600"/>
            <a:ext cx="109728" cy="1481328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49011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职责红线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" y="5285232"/>
            <a:ext cx="31089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WHC 只管仓内物理真相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渠道可用量/ATP 归 OIC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不在 WHC 重建渠道库存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61688" y="480060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61688" y="4800600"/>
            <a:ext cx="109728" cy="1481328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54296" y="49011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一致性机制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2583" y="5285232"/>
            <a:ext cx="31089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事件 + 快照双保险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幂等 / 顺序 / 去重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差异分级与自愈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8" y="480060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65008" y="4800600"/>
            <a:ext cx="109728" cy="148132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49011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协同闭环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4" y="5285232"/>
            <a:ext cx="310896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盘点 / 冻结 / 解冻协同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调整单回流各 WMS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3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03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异常工单闭环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  核心设计 · 标准化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标准化与映射：把厂商语言翻译成平台语言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编码与状态映射（引用 MDM 标准码）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65960"/>
            <a:ext cx="5440680" cy="4572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9659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厂商侧（多样）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9659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WHC 标准（唯一）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23160"/>
            <a:ext cx="5440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2316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商品编码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231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 SKU 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423160"/>
            <a:ext cx="228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4231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MDM 标准货品码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80360"/>
            <a:ext cx="5440680" cy="457200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88036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库位/库区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8803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厂商库位码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880360"/>
            <a:ext cx="228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8803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WHC 标准库位模型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37560"/>
            <a:ext cx="5440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容器/包装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3375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厂商容器码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337560"/>
            <a:ext cx="228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3375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MDM 包装/容器码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794760"/>
            <a:ext cx="5440680" cy="457200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79476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作业状态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7947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厂商状态码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3794760"/>
            <a:ext cx="228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7947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WHC 统一状态机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51960"/>
            <a:ext cx="5440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25196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业务事件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25196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厂商事件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251960"/>
            <a:ext cx="228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2519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标准事件模型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1965960"/>
            <a:ext cx="5166360" cy="1874519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平台标准化资产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560320"/>
            <a:ext cx="475488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1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标准业务对象：</a:t>
            </a:r>
            <a:r>
              <a:rPr sz="110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订单/任务/库存/容器/事件统一模型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1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统一状态机：</a:t>
            </a:r>
            <a:r>
              <a:rPr sz="110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出入库/作业状态标准化与版本管理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1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字典中心：</a:t>
            </a:r>
            <a:r>
              <a:rPr sz="110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单位/计量/异常码/原因码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977639"/>
            <a:ext cx="5166360" cy="2286000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与 Master Data 的关系（消费方）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617720"/>
            <a:ext cx="475488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货品 / 仓网 / 货品×仓网线路与时效 → 全部来自 MDM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WHC 不定义主数据，只建立“厂商码 ↔ MDM 标准码”映射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寻仓引擎运行时引用 MDM 线路与时效做落地决策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MDM 变更通过事件订阅同步，保证口径一致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03  集成方案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对内消费中台、对外适配执行，事件驱动贯穿全链路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00200"/>
            <a:ext cx="2743200" cy="475488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600200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集成对象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600200"/>
            <a:ext cx="1097280" cy="475488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7" y="1600200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600200"/>
            <a:ext cx="2194560" cy="475488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600200"/>
            <a:ext cx="201167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1600200"/>
            <a:ext cx="4846320" cy="475488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1600200"/>
            <a:ext cx="4663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关键交互内容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075688"/>
            <a:ext cx="274320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075688"/>
            <a:ext cx="91440" cy="507492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075688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OMS 销售订单中台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1568" y="2075688"/>
            <a:ext cx="109728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075688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双向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8848" y="2075688"/>
            <a:ext cx="219456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075688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API + 事件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3408" y="2075688"/>
            <a:ext cx="4846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2075688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接收履约单，回传出库/履约状态、库存事件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583180"/>
            <a:ext cx="274320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2583180"/>
            <a:ext cx="91440" cy="507492"/>
          </a:xfrm>
          <a:prstGeom prst="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2583180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PMS 采购订单中台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2583180"/>
            <a:ext cx="109728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1568" y="2583180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445BC4"/>
                </a:solidFill>
                <a:latin typeface="微软雅黑"/>
                <a:ea typeface="微软雅黑"/>
                <a:cs typeface="微软雅黑"/>
              </a:rPr>
              <a:t>双向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8848" y="2583180"/>
            <a:ext cx="219456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8" y="2583180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API + 事件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2583180"/>
            <a:ext cx="484632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0568" y="2583180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接收采购/调拨/退供/加工单，回传入库作业状态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090672"/>
            <a:ext cx="274320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3090672"/>
            <a:ext cx="91440" cy="507492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3090672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OIC 全渠道库存中台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3090672"/>
            <a:ext cx="109728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3090672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上报为主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98848" y="3090672"/>
            <a:ext cx="219456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6008" y="3090672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事件 + API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93408" y="3090672"/>
            <a:ext cx="4846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0568" y="3090672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上报仓内物理库存与变动事件，参与三方对账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598164"/>
            <a:ext cx="274320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" y="3598164"/>
            <a:ext cx="91440" cy="507492"/>
          </a:xfrm>
          <a:prstGeom prst="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" y="3598164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Master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1568" y="3598164"/>
            <a:ext cx="109728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3598164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消费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98848" y="3598164"/>
            <a:ext cx="219456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6008" y="3598164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API + 事件订阅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93408" y="3598164"/>
            <a:ext cx="484632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0568" y="3598164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获取货品/仓网/线路与时效，建立标准码映射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105656"/>
            <a:ext cx="274320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4105656"/>
            <a:ext cx="91440" cy="507492"/>
          </a:xfrm>
          <a:prstGeom prst="rect">
            <a:avLst/>
          </a:prstGeom>
          <a:solidFill>
            <a:srgbClr val="60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4105656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ERP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01568" y="4105656"/>
            <a:ext cx="109728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01568" y="4105656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按需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98848" y="4105656"/>
            <a:ext cx="219456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6008" y="4105656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API / 文件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93408" y="4105656"/>
            <a:ext cx="4846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30568" y="4105656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单据/成本/结算等必要数据交互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4613148"/>
            <a:ext cx="274320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" y="4613148"/>
            <a:ext cx="91440" cy="507492"/>
          </a:xfrm>
          <a:prstGeom prst="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536" y="4613148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各厂商 WMS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1568" y="4613148"/>
            <a:ext cx="109728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01568" y="4613148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2E77C9"/>
                </a:solidFill>
                <a:latin typeface="微软雅黑"/>
                <a:ea typeface="微软雅黑"/>
                <a:cs typeface="微软雅黑"/>
              </a:rPr>
              <a:t>双向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98848" y="4613148"/>
            <a:ext cx="219456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36008" y="4613148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适配器(API/MQ/EDI/File)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93408" y="4613148"/>
            <a:ext cx="484632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30568" y="4613148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下发作业指令、采集执行与库存结果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5120640"/>
            <a:ext cx="274320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5120640"/>
            <a:ext cx="91440" cy="507492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9536" y="5120640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WCS / WES / 机器人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01568" y="5120640"/>
            <a:ext cx="109728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01568" y="5120640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双向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98848" y="5120640"/>
            <a:ext cx="219456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36008" y="5120640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适配器(API/MQ)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93408" y="5120640"/>
            <a:ext cx="4846320" cy="5074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8" y="5120640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设备任务下发、状态与产能采集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628131"/>
            <a:ext cx="274320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368" y="5628131"/>
            <a:ext cx="91440" cy="5074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9536" y="5628131"/>
            <a:ext cx="24688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3PL 系统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01568" y="5628131"/>
            <a:ext cx="109728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01568" y="5628131"/>
            <a:ext cx="109728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双向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98848" y="5628131"/>
            <a:ext cx="219456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36008" y="5628131"/>
            <a:ext cx="2011679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适配器(API/EDI/File)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93408" y="5628131"/>
            <a:ext cx="4846320" cy="507492"/>
          </a:xfrm>
          <a:prstGeom prst="rect">
            <a:avLst/>
          </a:prstGeom>
          <a:solidFill>
            <a:srgbClr val="F6F9FD"/>
          </a:solidFill>
          <a:ln w="635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30568" y="5628131"/>
            <a:ext cx="4663440" cy="5074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作业协同、计量采集、计费对账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8368" y="616305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统一通过消息总线承载事件，配合 API 网关与适配器治理，实现松耦合、可观测、可灰度的集成。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2E7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23360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46120"/>
            <a:ext cx="822960" cy="82296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ROADMAP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564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建设路线图与保障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8C6DA"/>
                </a:solidFill>
                <a:latin typeface="微软雅黑"/>
                <a:ea typeface="微软雅黑"/>
                <a:cs typeface="微软雅黑"/>
              </a:rPr>
              <a:t>三期 18 个月 · 治理组织 · KPI/ROI · 风险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669280"/>
            <a:ext cx="310896" cy="310896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669280"/>
            <a:ext cx="310896" cy="310896"/>
          </a:xfrm>
          <a:prstGeom prst="ellipse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5669280"/>
            <a:ext cx="310896" cy="310896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  建设路线图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三期 · 约 18 个月：连得上 → 调得动 → 提得效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874519"/>
            <a:ext cx="10424160" cy="0"/>
          </a:xfrm>
          <a:prstGeom prst="line">
            <a:avLst/>
          </a:prstGeom>
          <a:ln w="3175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72284" y="1728216"/>
            <a:ext cx="292608" cy="292608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240280"/>
            <a:ext cx="3520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0280"/>
            <a:ext cx="3520440" cy="91440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97480"/>
            <a:ext cx="3520440" cy="4572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0428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 · 0 - 6 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06624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连得上、看得见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337560"/>
            <a:ext cx="297180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接入适配框架 + 适配器治理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标准化与映射 / 字典中心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仓内库存真相与三方对账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控制塔 V1 + 平台底座/多租户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" y="5440680"/>
            <a:ext cx="3063240" cy="50292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440680"/>
            <a:ext cx="3063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试点：大仓 + 3PL 电商仓</a:t>
            </a:r>
          </a:p>
        </p:txBody>
      </p:sp>
      <p:sp>
        <p:nvSpPr>
          <p:cNvPr id="20" name="Oval 19"/>
          <p:cNvSpPr/>
          <p:nvPr/>
        </p:nvSpPr>
        <p:spPr>
          <a:xfrm>
            <a:off x="5975603" y="1728216"/>
            <a:ext cx="292608" cy="292608"/>
          </a:xfrm>
          <a:prstGeom prst="ellipse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1688" y="2240280"/>
            <a:ext cx="3520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61688" y="2240280"/>
            <a:ext cx="3520440" cy="91440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2697480"/>
            <a:ext cx="3520440" cy="457200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30428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二期 · 6 - 12 个月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706624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调得动、对得准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337560"/>
            <a:ext cx="297180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双链路履约编排 + 智能寻仓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出入库作业策略上移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3PL 计费与结算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承运配送协同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288" y="5440680"/>
            <a:ext cx="3063240" cy="50292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5440680"/>
            <a:ext cx="3063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扩展：自营 FC</a:t>
            </a:r>
          </a:p>
        </p:txBody>
      </p:sp>
      <p:sp>
        <p:nvSpPr>
          <p:cNvPr id="29" name="Oval 28"/>
          <p:cNvSpPr/>
          <p:nvPr/>
        </p:nvSpPr>
        <p:spPr>
          <a:xfrm>
            <a:off x="9678924" y="1728216"/>
            <a:ext cx="292608" cy="29260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65008" y="2240280"/>
            <a:ext cx="35204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5008" y="2240280"/>
            <a:ext cx="3520440" cy="9144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5008" y="2697480"/>
            <a:ext cx="3520440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0428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三期 · 12 - 18 个月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706624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提得效、变聪明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3337560"/>
            <a:ext cx="297180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资源调度 + 自动化人机协同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数据底座 + 预测与智能优化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控制塔升级 / 数字孪生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厂商 WMS 可替换验证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93608" y="5440680"/>
            <a:ext cx="3063240" cy="50292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5440680"/>
            <a:ext cx="3063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扩展：门店仓 + 云仓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  一期落地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一期范围：以大仓 + 3PL 电商仓试点，跑通“连接 + 可视”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00200"/>
            <a:ext cx="3529584" cy="4526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529584" cy="603504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3529584" cy="301752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0020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395728"/>
            <a:ext cx="306324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适配器框架 + 2~3 家 WMS / 3PL 接入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标准化模型、编码映射、字典中心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仓内库存聚合 + WMS↔WHC↔OIC 对账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控制塔 V1（全链路可视 + 基础告警）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平台底座：多租户 / 配置 / 消息总线 / 可观测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600200"/>
            <a:ext cx="3529584" cy="4526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1688" y="1600200"/>
            <a:ext cx="3529584" cy="603504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901952"/>
            <a:ext cx="3529584" cy="301752"/>
          </a:xfrm>
          <a:prstGeom prst="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试点范围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395728"/>
            <a:ext cx="306324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大仓 1 个（自动化设备较多的节点）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3PL 电商仓 1~2 个（含计量数据采集）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对接 OMS / PMS 必要单据与状态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对接 OIC 做库存上报与对账验证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引用 MDM 货品 / 仓网 / 线路与时效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600200"/>
            <a:ext cx="3529584" cy="4526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65008" y="1600200"/>
            <a:ext cx="3529584" cy="60350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1901952"/>
            <a:ext cx="3529584" cy="3017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60020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成功标准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395728"/>
            <a:ext cx="306324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新仓接入周期 &lt; 4 周（含联调）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库存对账差异率 &lt; 0.5%，差异可追溯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全链路状态可视，关键节点延迟告警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适配资产沉淀，二期可直接复用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5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50" b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 形成厂商接入规范与上线 SOP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1996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原则：单仓灰度、小步快跑、先难后易（先啃自动化复杂的大仓与多结算的 3PL，沉淀通用能力）。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  治理保障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组织与机制：平台团队 + 能力域 Owner + 厂商接入规范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5486400" cy="12070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109728" cy="120700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9222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平台团队（Platform）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1284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负责适配框架、平台底座、标准模型与开放平台；保障稳定性与可演进。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17520"/>
            <a:ext cx="5486400" cy="12070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017520"/>
            <a:ext cx="109728" cy="1207008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6382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能力域 Owner（Domain）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8444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按 10 大能力域设负责人，负责能力规划、策略沉淀与跨仓推广。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89120"/>
            <a:ext cx="5486400" cy="12070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4389120"/>
            <a:ext cx="109728" cy="120700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仓侧 BizOps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5604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对接各仓与 3PL，负责接入实施、灰度切换与运营反馈。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45920"/>
            <a:ext cx="5166360" cy="4114800"/>
          </a:xfrm>
          <a:prstGeom prst="round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关键机制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286000"/>
            <a:ext cx="47548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3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厂商接入规范：</a:t>
            </a:r>
            <a:r>
              <a:rPr sz="113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标准协议/报文/字段/SLA 准入清单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3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能力准入评审：</a:t>
            </a:r>
            <a:r>
              <a:rPr sz="113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新能力上移前评估边界与复用性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3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标准变更管理：</a:t>
            </a:r>
            <a:r>
              <a:rPr sz="113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状态/事件/编码版本化与兼容策略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3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灰度与回滚：</a:t>
            </a:r>
            <a:r>
              <a:rPr sz="113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按仓灰度、可观测、可快速回滚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3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数据一致性例会：</a:t>
            </a:r>
            <a:r>
              <a:rPr sz="113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对账差异闭环与根因治理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3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▍</a:t>
            </a:r>
            <a:r>
              <a:rPr sz="11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中台协同机制：</a:t>
            </a:r>
            <a:r>
              <a:rPr sz="113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与 OMS/PMS/OIC/MDM 边界对齐与联调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  价值度量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KPI 与 ROI：标准化提效、协同增效、运营降本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91640"/>
            <a:ext cx="3529584" cy="9144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92808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新仓/厂商接入周期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0487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数月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4414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404872"/>
            <a:ext cx="1335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&lt; 4 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9164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691640"/>
            <a:ext cx="3529584" cy="9144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892808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库存对账差异率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0487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人工/不可控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414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04872"/>
            <a:ext cx="1335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&lt; 0.5%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69164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9872" y="1691640"/>
            <a:ext cx="3529584" cy="91440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892808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跨仓缺货改派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40487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人工协调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4414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2404872"/>
            <a:ext cx="1335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自动改派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2900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3429000"/>
            <a:ext cx="3529584" cy="914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630168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3PL 对账人力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14223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高人工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0008" y="417880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4142232"/>
            <a:ext cx="1335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↓ 60%+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42900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89120" y="3429000"/>
            <a:ext cx="3529584" cy="9144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630168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全链路可视覆盖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14223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分散黑盒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17880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42232"/>
            <a:ext cx="1335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100% 可视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2" y="3429000"/>
            <a:ext cx="3529584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19872" y="3429000"/>
            <a:ext cx="3529584" cy="91440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2" y="3630168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通用能力复用率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414223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重复建设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1512" y="417880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45BC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1552" y="4142232"/>
            <a:ext cx="1335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45BC4"/>
                </a:solidFill>
                <a:latin typeface="微软雅黑"/>
                <a:ea typeface="微软雅黑"/>
                <a:cs typeface="微软雅黑"/>
              </a:rPr>
              <a:t>一次建设多仓复用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440680"/>
            <a:ext cx="10881360" cy="841248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44068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E2446"/>
                </a:solidFill>
                <a:latin typeface="微软雅黑"/>
                <a:ea typeface="微软雅黑"/>
                <a:cs typeface="微软雅黑"/>
              </a:rPr>
              <a:t>ROI 逻辑：标准化降低集成与维护成本、能力上移避免重复建设、自动调度提升时效与产能、对账自动化释放人力；随接入仓数增加，平台边际成本递减、价值递增。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04  风险管理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主要风险与应对：提前识别、分级管控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25880"/>
            <a:ext cx="11137392" cy="0"/>
          </a:xfrm>
          <a:prstGeom prst="line">
            <a:avLst/>
          </a:prstGeom>
          <a:ln w="15240">
            <a:solidFill>
              <a:srgbClr val="D6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91640"/>
            <a:ext cx="109728" cy="1783080"/>
          </a:xfrm>
          <a:prstGeom prst="roundRect">
            <a:avLst/>
          </a:prstGeom>
          <a:solidFill>
            <a:srgbClr val="E85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837944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516A"/>
                </a:solidFill>
                <a:latin typeface="微软雅黑"/>
                <a:ea typeface="微软雅黑"/>
                <a:cs typeface="微软雅黑"/>
              </a:rPr>
              <a:t>⚠ 厂商配合度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258568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WMS/3PL 厂商接口能力与配合不足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862072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应对：制定接入规范作为准入；提供标准 SDK 与文档；合同约束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691640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691640"/>
            <a:ext cx="109728" cy="17830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837944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⚠ 数据一致性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258568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多源库存/状态口径不一致导致差异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862072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应对：事件+快照双保险；对账引擎；差异分级自愈与例会闭环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1691640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9872" y="1691640"/>
            <a:ext cx="109728" cy="1783080"/>
          </a:xfrm>
          <a:prstGeom prst="roundRect">
            <a:avLst/>
          </a:prstGeom>
          <a:solidFill>
            <a:srgbClr val="8A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37944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6BE0"/>
                </a:solidFill>
                <a:latin typeface="微软雅黑"/>
                <a:ea typeface="微软雅黑"/>
                <a:cs typeface="微软雅黑"/>
              </a:rPr>
              <a:t>⚠ 边界蔓延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58568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WHC 越界重建 OIC/PMS/OMS 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62072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应对：明确边界红线；能力准入评审；架构看护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30752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3730752"/>
            <a:ext cx="109728" cy="17830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877056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⚠ 组织协同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297680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跨中台/跨仓协同与责任不清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901184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应对：能力域 Owner 制；中台协同机制；RACI 明确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730752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3730752"/>
            <a:ext cx="109728" cy="1783080"/>
          </a:xfrm>
          <a:prstGeom prst="roundRect">
            <a:avLst/>
          </a:prstGeom>
          <a:solidFill>
            <a:srgbClr val="18C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3877056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C2A6"/>
                </a:solidFill>
                <a:latin typeface="微软雅黑"/>
                <a:ea typeface="微软雅黑"/>
                <a:cs typeface="微软雅黑"/>
              </a:rPr>
              <a:t>⚠ 演进与替换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297680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厂商 WMS 替换/能力上移影响业务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901184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应对：渐进灰度；双轨并行；可回滚；试点先行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2" y="3730752"/>
            <a:ext cx="35295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1A274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19872" y="3730752"/>
            <a:ext cx="109728" cy="1783080"/>
          </a:xfrm>
          <a:prstGeom prst="roundRect">
            <a:avLst/>
          </a:prstGeom>
          <a:solidFill>
            <a:srgbClr val="44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877056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5BC4"/>
                </a:solidFill>
                <a:latin typeface="微软雅黑"/>
                <a:ea typeface="微软雅黑"/>
                <a:cs typeface="微软雅黑"/>
              </a:rPr>
              <a:t>⚠ 性能与稳定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297680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30" b="0" i="0">
                <a:solidFill>
                  <a:srgbClr val="1A2740"/>
                </a:solidFill>
                <a:latin typeface="微软雅黑"/>
                <a:ea typeface="微软雅黑"/>
                <a:cs typeface="微软雅黑"/>
              </a:rPr>
              <a:t>大促峰值下编排/对账压力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01184"/>
            <a:ext cx="3026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应对：异步化+削峰；限流熔断；容量规划与压测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B4E8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97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9728" cy="86868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58568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一个定位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40280"/>
            <a:ext cx="8229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7E2F2"/>
                </a:solidFill>
                <a:latin typeface="微软雅黑"/>
                <a:ea typeface="微软雅黑"/>
                <a:cs typeface="微软雅黑"/>
              </a:rPr>
              <a:t>WHC = ERP/中台 与 WMS 之间的“仓库调度大脑”，A→B 渐进式演进为平台化 WMS。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72968"/>
            <a:ext cx="109728" cy="86868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91256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四条边界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72968"/>
            <a:ext cx="8229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7E2F2"/>
                </a:solidFill>
                <a:latin typeface="微软雅黑"/>
                <a:ea typeface="微软雅黑"/>
                <a:cs typeface="微软雅黑"/>
              </a:rPr>
              <a:t>OMS/PMS 管订单、OIC 管渠道库存、MDM 管货品/仓网/线路时效，WHC 管执行编排+标准化+物理库存真相+调度。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109728" cy="86868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23944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十大能力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105656"/>
            <a:ext cx="8229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7E2F2"/>
                </a:solidFill>
                <a:latin typeface="微软雅黑"/>
                <a:ea typeface="微软雅黑"/>
                <a:cs typeface="微软雅黑"/>
              </a:rPr>
              <a:t>接入适配 / 双链路编排 / 库存一致性 / 作业调度 / 标准化 / 承运 / 3PL计费 / 控制塔 / 数据智能 / 平台治理。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38344"/>
            <a:ext cx="109728" cy="868680"/>
          </a:xfrm>
          <a:prstGeom prst="round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56631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三期落地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38344"/>
            <a:ext cx="8229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7E2F2"/>
                </a:solidFill>
                <a:latin typeface="微软雅黑"/>
                <a:ea typeface="微软雅黑"/>
                <a:cs typeface="微软雅黑"/>
              </a:rPr>
              <a:t>0-6 月连得上看得见（大仓+3PL电商仓）→ 6-12 月调得动对得准（FC）→ 12-18 月提得效变聪明（门店/云仓）。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989320"/>
            <a:ext cx="10515600" cy="502920"/>
          </a:xfrm>
          <a:prstGeom prst="roundRect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9893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下一步：确认一期范围与试点仓 → 组建平台团队与能力域 Owner → 启动适配框架与标准模型设计。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088"/>
                </a:solidFill>
                <a:latin typeface="微软雅黑"/>
                <a:ea typeface="微软雅黑"/>
                <a:cs typeface="微软雅黑"/>
              </a:rPr>
              <a:t>WHC 仓库调度平台 · 平台化规划方案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C5BA8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2743200"/>
            <a:ext cx="5029200" cy="5029200"/>
          </a:xfrm>
          <a:prstGeom prst="ellipse">
            <a:avLst/>
          </a:prstGeom>
          <a:solidFill>
            <a:srgbClr val="12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FC4EC"/>
                </a:solidFill>
                <a:latin typeface="微软雅黑"/>
                <a:ea typeface="微软雅黑"/>
                <a:cs typeface="微软雅黑"/>
              </a:rPr>
              <a:t>WHC 仓库调度平台 · 平台化建设规划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43400"/>
            <a:ext cx="137160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FA6C6"/>
                </a:solidFill>
                <a:latin typeface="微软雅黑"/>
                <a:ea typeface="微软雅黑"/>
                <a:cs typeface="微软雅黑"/>
              </a:rPr>
              <a:t>欢迎就能力边界、分期范围与试点方案进一步共创。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