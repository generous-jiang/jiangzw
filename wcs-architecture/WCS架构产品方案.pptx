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46304"/>
            <a:ext cx="64008" cy="384048"/>
          </a:xfrm>
          <a:prstGeom prst="rect">
            <a:avLst/>
          </a:prstGeom>
          <a:solidFill>
            <a:srgbClr val="E3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8912" y="118872"/>
            <a:ext cx="96012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42424"/>
                </a:solidFill>
                <a:latin typeface="Microsoft YaHei"/>
              </a:rPr>
              <a:t>全渠道仓库自动化接入 WCS · 产品方案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566928"/>
            <a:ext cx="11460175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Microsoft YaHei"/>
              </a:rPr>
              <a:t>Flux WMS 与 WHC 自动化任务编排在上 · 自研 WCS 以标准指令集 + 能力分层实现统一调度 · 上下行均经 WCS 贯通到自动化设备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987552"/>
            <a:ext cx="2211567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Microsoft YaHei"/>
              </a:rPr>
              <a:t>DC Flux WMS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32191" y="987552"/>
            <a:ext cx="2211567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Microsoft YaHei"/>
              </a:rPr>
              <a:t>FC Flux WMS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0063" y="987552"/>
            <a:ext cx="2211567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Microsoft YaHei"/>
              </a:rPr>
              <a:t>City DC WMS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7935" y="987552"/>
            <a:ext cx="2211567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Microsoft YaHei"/>
              </a:rPr>
              <a:t>门店 WMS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05807" y="987552"/>
            <a:ext cx="2211567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F4E79"/>
                </a:solidFill>
                <a:latin typeface="Microsoft YaHei"/>
              </a:rPr>
              <a:t>云仓 WMS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713232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5B6"/>
                </a:solidFill>
                <a:latin typeface="Microsoft YaHei"/>
              </a:rPr>
              <a:t>上游 · 多 WMS / WHC 系统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0103" y="1581912"/>
            <a:ext cx="0" cy="283464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37975" y="1581912"/>
            <a:ext cx="0" cy="283464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1581912"/>
            <a:ext cx="0" cy="283464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453719" y="1581912"/>
            <a:ext cx="0" cy="283464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811591" y="1581912"/>
            <a:ext cx="0" cy="283464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5662" y="1563624"/>
            <a:ext cx="5307762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B6B6B"/>
                </a:solidFill>
                <a:latin typeface="Microsoft YaHei"/>
              </a:rPr>
              <a:t>标准指令双向交互：下行指令 / 上行状态，全部经 WCS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" y="1865376"/>
            <a:ext cx="11643055" cy="3310128"/>
          </a:xfrm>
          <a:prstGeom prst="roundRect">
            <a:avLst>
              <a:gd name="adj" fmla="val 3500"/>
            </a:avLst>
          </a:prstGeom>
          <a:solidFill>
            <a:srgbClr val="EEF5FC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1" y="1591056"/>
            <a:ext cx="310896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Microsoft YaHei"/>
              </a:rPr>
              <a:t>WCS 平台（自研核心）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3" y="1975104"/>
            <a:ext cx="9091636" cy="365760"/>
          </a:xfrm>
          <a:prstGeom prst="roundRect">
            <a:avLst>
              <a:gd name="adj" fmla="val 2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WCS · 仓储自动化统一调度引擎  —  标准指令集 + 能力分层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3" y="2432304"/>
            <a:ext cx="1417320" cy="816864"/>
          </a:xfrm>
          <a:prstGeom prst="roundRect">
            <a:avLst>
              <a:gd name="adj" fmla="val 10000"/>
            </a:avLst>
          </a:prstGeom>
          <a:solidFill>
            <a:srgbClr val="DCEAF8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F4E79"/>
                </a:solidFill>
                <a:latin typeface="Microsoft YaHei"/>
              </a:rPr>
              <a:t>统一调度层</a:t>
            </a:r>
          </a:p>
          <a:p>
            <a:pPr algn="ctr"/>
            <a:r>
              <a:rPr sz="850">
                <a:solidFill>
                  <a:srgbClr val="2E75B6"/>
                </a:solidFill>
                <a:latin typeface="Microsoft YaHei"/>
              </a:rPr>
              <a:t>Scheduling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9384" y="243230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任务编排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58760" y="243230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优先级调度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8137" y="243230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路由分配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7514" y="243230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异常熔断/降级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891" y="243230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执行监控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3" y="3331464"/>
            <a:ext cx="1417320" cy="816864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F4E79"/>
                </a:solidFill>
                <a:latin typeface="Microsoft YaHei"/>
              </a:rPr>
              <a:t>标准指令集层</a:t>
            </a:r>
          </a:p>
          <a:p>
            <a:pPr algn="ctr"/>
            <a:r>
              <a:rPr sz="850">
                <a:solidFill>
                  <a:srgbClr val="2E75B6"/>
                </a:solidFill>
                <a:latin typeface="Microsoft YaHei"/>
              </a:rPr>
              <a:t>Instruction 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29384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入库指令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85244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上架指令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1105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移库指令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96965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盘点指令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52826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补货指令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08687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拣选指令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64547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分播指令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20408" y="3331464"/>
            <a:ext cx="891852" cy="816864"/>
          </a:xfrm>
          <a:prstGeom prst="roundRect">
            <a:avLst>
              <a:gd name="adj" fmla="val 14000"/>
            </a:avLst>
          </a:prstGeom>
          <a:solidFill>
            <a:srgbClr val="2E75B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对账指令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0623" y="4230624"/>
            <a:ext cx="1417320" cy="816864"/>
          </a:xfrm>
          <a:prstGeom prst="roundRect">
            <a:avLst>
              <a:gd name="adj" fmla="val 10000"/>
            </a:avLst>
          </a:prstGeom>
          <a:solidFill>
            <a:srgbClr val="DCEAF8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1F4E79"/>
                </a:solidFill>
                <a:latin typeface="Microsoft YaHei"/>
              </a:rPr>
              <a:t>设备适配层</a:t>
            </a:r>
          </a:p>
          <a:p>
            <a:pPr algn="ctr"/>
            <a:r>
              <a:rPr sz="850">
                <a:solidFill>
                  <a:srgbClr val="2E75B6"/>
                </a:solidFill>
                <a:latin typeface="Microsoft YaHei"/>
              </a:rPr>
              <a:t>Capability Adapter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9384" y="423062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货架到人适配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58760" y="423062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料箱到人适配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88137" y="423062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托盘到人适配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17514" y="423062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分拣机器人适配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891" y="4230624"/>
            <a:ext cx="1465368" cy="81686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通用设备适配</a:t>
            </a:r>
          </a:p>
          <a:p>
            <a:pPr algn="ctr">
              <a:lnSpc>
                <a:spcPct val="100000"/>
              </a:lnSpc>
            </a:pPr>
            <a:r>
              <a:rPr sz="950" b="0">
                <a:solidFill>
                  <a:srgbClr val="1F4E79"/>
                </a:solidFill>
                <a:latin typeface="Microsoft YaHei"/>
              </a:rPr>
              <a:t>(AGV/输送线/机器人)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76852" y="1975104"/>
            <a:ext cx="2386826" cy="3072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E75B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76852" y="2011680"/>
            <a:ext cx="238682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Microsoft YaHei"/>
              </a:rPr>
              <a:t>看板平台 · 可视化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86580" y="2322576"/>
            <a:ext cx="2167370" cy="512064"/>
          </a:xfrm>
          <a:prstGeom prst="roundRect">
            <a:avLst>
              <a:gd name="adj" fmla="val 18000"/>
            </a:avLst>
          </a:prstGeom>
          <a:solidFill>
            <a:srgbClr val="DCEAF8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F4E79"/>
                </a:solidFill>
                <a:latin typeface="Microsoft YaHei"/>
              </a:rPr>
              <a:t>全仓任务看板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6580" y="2907792"/>
            <a:ext cx="2167370" cy="512064"/>
          </a:xfrm>
          <a:prstGeom prst="roundRect">
            <a:avLst>
              <a:gd name="adj" fmla="val 18000"/>
            </a:avLst>
          </a:prstGeom>
          <a:solidFill>
            <a:srgbClr val="DCEAF8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F4E79"/>
                </a:solidFill>
                <a:latin typeface="Microsoft YaHei"/>
              </a:rPr>
              <a:t>自动化区域监控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786580" y="3493008"/>
            <a:ext cx="2167370" cy="512064"/>
          </a:xfrm>
          <a:prstGeom prst="roundRect">
            <a:avLst>
              <a:gd name="adj" fmla="val 18000"/>
            </a:avLst>
          </a:prstGeom>
          <a:solidFill>
            <a:srgbClr val="DCEAF8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F4E79"/>
                </a:solidFill>
                <a:latin typeface="Microsoft YaHei"/>
              </a:rPr>
              <a:t>指令执行看板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86580" y="4078224"/>
            <a:ext cx="2167370" cy="512064"/>
          </a:xfrm>
          <a:prstGeom prst="roundRect">
            <a:avLst>
              <a:gd name="adj" fmla="val 18000"/>
            </a:avLst>
          </a:prstGeom>
          <a:solidFill>
            <a:srgbClr val="DCEAF8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1F4E79"/>
                </a:solidFill>
                <a:latin typeface="Microsoft YaHei"/>
              </a:rPr>
              <a:t>数字孪生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380103" y="5202936"/>
            <a:ext cx="0" cy="292608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37975" y="5202936"/>
            <a:ext cx="0" cy="292608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095847" y="5202936"/>
            <a:ext cx="0" cy="292608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453719" y="5202936"/>
            <a:ext cx="0" cy="292608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11591" y="5202936"/>
            <a:ext cx="0" cy="292608"/>
          </a:xfrm>
          <a:prstGeom prst="line">
            <a:avLst/>
          </a:prstGeom>
          <a:ln w="22225">
            <a:solidFill>
              <a:srgbClr val="163A5C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63927" y="5184648"/>
            <a:ext cx="5971233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6B6B6B"/>
                </a:solidFill>
                <a:latin typeface="Microsoft YaHei"/>
              </a:rPr>
              <a:t>标准指令下发 / 执行状态上报，统一经 WCS 适配对接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74320" y="5495544"/>
            <a:ext cx="2211567" cy="84124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595959"/>
                </a:solidFill>
                <a:latin typeface="Microsoft YaHei"/>
              </a:rPr>
              <a:t>WCS1</a:t>
            </a:r>
          </a:p>
          <a:p>
            <a:pPr algn="ctr"/>
            <a:r>
              <a:rPr sz="850">
                <a:solidFill>
                  <a:srgbClr val="6B6B6B"/>
                </a:solidFill>
                <a:latin typeface="Microsoft YaHei"/>
              </a:rPr>
              <a:t>货架到人 · PopPick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32191" y="5495544"/>
            <a:ext cx="2211567" cy="84124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595959"/>
                </a:solidFill>
                <a:latin typeface="Microsoft YaHei"/>
              </a:rPr>
              <a:t>WCS2</a:t>
            </a:r>
          </a:p>
          <a:p>
            <a:pPr algn="ctr"/>
            <a:r>
              <a:rPr sz="850">
                <a:solidFill>
                  <a:srgbClr val="6B6B6B"/>
                </a:solidFill>
                <a:latin typeface="Microsoft YaHei"/>
              </a:rPr>
              <a:t>料箱到人 · RoboShuttle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90063" y="5495544"/>
            <a:ext cx="2211567" cy="84124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595959"/>
                </a:solidFill>
                <a:latin typeface="Microsoft YaHei"/>
              </a:rPr>
              <a:t>WCS3</a:t>
            </a:r>
          </a:p>
          <a:p>
            <a:pPr algn="ctr"/>
            <a:r>
              <a:rPr sz="850">
                <a:solidFill>
                  <a:srgbClr val="6B6B6B"/>
                </a:solidFill>
                <a:latin typeface="Microsoft YaHei"/>
              </a:rPr>
              <a:t>料箱到人 · 闪擎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47935" y="5495544"/>
            <a:ext cx="2211567" cy="84124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595959"/>
                </a:solidFill>
                <a:latin typeface="Microsoft YaHei"/>
              </a:rPr>
              <a:t>WCS4</a:t>
            </a:r>
          </a:p>
          <a:p>
            <a:pPr algn="ctr"/>
            <a:r>
              <a:rPr sz="850">
                <a:solidFill>
                  <a:srgbClr val="6B6B6B"/>
                </a:solidFill>
                <a:latin typeface="Microsoft YaHei"/>
              </a:rPr>
              <a:t>托盘到人 · 上架/下拣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05807" y="5495544"/>
            <a:ext cx="2211567" cy="841248"/>
          </a:xfrm>
          <a:prstGeom prst="roundRect">
            <a:avLst>
              <a:gd name="adj" fmla="val 10000"/>
            </a:avLst>
          </a:prstGeom>
          <a:solidFill>
            <a:srgbClr val="F3F3F3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595959"/>
                </a:solidFill>
                <a:latin typeface="Microsoft YaHei"/>
              </a:rPr>
              <a:t>WCS N</a:t>
            </a:r>
          </a:p>
          <a:p>
            <a:pPr algn="ctr"/>
            <a:r>
              <a:rPr sz="850">
                <a:solidFill>
                  <a:srgbClr val="6B6B6B"/>
                </a:solidFill>
                <a:latin typeface="Microsoft YaHei"/>
              </a:rPr>
              <a:t>分拣机器人 · 柔性分拣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4320" y="5239512"/>
            <a:ext cx="4206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B6B6B"/>
                </a:solidFill>
                <a:latin typeface="Microsoft YaHei"/>
              </a:rPr>
              <a:t>下游 · 自动化供应商系统（按能力适配接入，可扩展）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4320" y="6382512"/>
            <a:ext cx="11643055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B6B6B"/>
                </a:solidFill>
                <a:latin typeface="Microsoft YaHei"/>
              </a:rPr>
              <a:t>说明：WMS 与自动化供应商系统之间不直连，全部通过 WCS 标准指令集完成上下行交互，体系以自研 WCS 调度与指令能力为核心，供应商系统仅作为可插拔的执行层。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