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65760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09728"/>
            <a:ext cx="96926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62626"/>
                </a:solidFill>
                <a:latin typeface="Microsoft YaHei"/>
              </a:rPr>
              <a:t>全渠道仓库自动化接入 WCS · 产品方案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48640"/>
            <a:ext cx="1146017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7A7A"/>
                </a:solidFill>
                <a:latin typeface="Microsoft YaHei"/>
              </a:rPr>
              <a:t>Flux WMS 与 WHC 自动化任务编排在上，自研 WCS 以标准指令集统一下发、按能力分层调度自动化设备；上下行交互均经 WCS 贯通衔接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77824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业务决策层 · WMS（上游多源系统接入）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877824"/>
            <a:ext cx="2743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Microsoft YaHei"/>
              </a:rPr>
              <a:t>供应链 WMS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78992"/>
            <a:ext cx="6549996" cy="530352"/>
          </a:xfrm>
          <a:prstGeom prst="roundRect">
            <a:avLst>
              <a:gd name="adj" fmla="val 5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3939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939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DC Flux WMS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5327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2227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5022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5022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FC Flux WMS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6410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3310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CDC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6105" y="1143000"/>
            <a:ext cx="2988591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6105" y="1179576"/>
            <a:ext cx="29885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Microsoft YaHei"/>
              </a:rPr>
              <a:t>City DC Flux WMS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051" y="1367028"/>
            <a:ext cx="1912698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4393" y="1389888"/>
            <a:ext cx="2952015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FWDC / FC / CBEC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6749" y="877824"/>
            <a:ext cx="2743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Microsoft YaHei"/>
              </a:rPr>
              <a:t>门店域 WMS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8461" y="1078992"/>
            <a:ext cx="4868913" cy="530352"/>
          </a:xfrm>
          <a:prstGeom prst="roundRect">
            <a:avLst>
              <a:gd name="adj" fmla="val 5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48080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48080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门店 WMS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39468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66368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门店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9163" y="1143000"/>
            <a:ext cx="2988591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9163" y="1179576"/>
            <a:ext cx="29885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Microsoft YaHei"/>
              </a:rPr>
              <a:t>云仓 WMS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67110" y="1367028"/>
            <a:ext cx="1912698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47451" y="1389888"/>
            <a:ext cx="2952015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云仓 / 社区店 / Darkstore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334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64432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3040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95749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32345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767236" y="1627631"/>
            <a:ext cx="4657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标准指令双向交互：下行指令 / 上行状态，统一经 WCS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1655063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WCS 平台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1874519"/>
            <a:ext cx="11643055" cy="324612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0623" y="1993391"/>
            <a:ext cx="9091636" cy="475488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/>
              </a:rPr>
              <a:t>WCS · 仓储自动化统一调度引擎</a:t>
            </a:r>
          </a:p>
          <a:p>
            <a:pPr algn="ctr"/>
            <a:r>
              <a:rPr sz="900">
                <a:solidFill>
                  <a:srgbClr val="CFE0F3"/>
                </a:solidFill>
                <a:latin typeface="Microsoft YaHei"/>
              </a:rPr>
              <a:t>标准指令协议：版本化管理 · 幂等重试 · 灰度发布 · 限流降级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3" y="2560320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① 统一调度层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4900" y="256032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Scheduling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0623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任务编排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多任务并行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41230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优先级调度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SLA分级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61837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路由分配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最优匹配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82444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限流降级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峰值保护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03051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异常熔断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失败重试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3658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执行监控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时效预警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3" y="3253781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② 标准指令集层（核心）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4900" y="3253781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Standard Instruction Set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0623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商品信息指令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创建·修改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41230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收货指令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DWS称重·提码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61837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上架指令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2444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盘点指令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RFID·物理盘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03051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移库指令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3658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监控预警指令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过程跟踪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0623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容器信息指令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容器绑定·解绑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941230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波次指令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波次旗号·产能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61837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拣货指令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货架/货位/托盘到人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82444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分播指令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格口/订单/门店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03051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对账指令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23658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任务单看板指令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数据回传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0623" y="4381458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③ 设备能力适配层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4900" y="4381458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Capability Adapter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0623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货架到人适配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PopPick类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941230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料箱到人适配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Shuttle类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1837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托盘到人适配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高位密存类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82444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分拣机器人适配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柔性分拣类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03051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语音适配拣选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语音引导·免视觉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23658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通用设备适配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AGV/RGV/输送线/机器人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76852" y="1655063"/>
            <a:ext cx="23868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看板平台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76852" y="1993391"/>
            <a:ext cx="2386826" cy="3008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04868" y="2084831"/>
            <a:ext cx="21307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Microsoft YaHei"/>
              </a:rPr>
              <a:t>可视化平台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23156" y="2414015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全仓任务看板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3156" y="2625090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全仓任务 · 看板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04868" y="2817876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3156" y="2836164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自动化区域监控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3156" y="3047238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自动化区任务监控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04868" y="3240024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823156" y="3258312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指令执行看板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23156" y="3469386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指令时效 · 成功率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04868" y="3662172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23156" y="3680460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设备监控层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23156" y="3891534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设备状态 · 能耗 · 故障预警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804868" y="4084320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23156" y="4102608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异常工单看板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23156" y="4313682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异常 / 重试 / 告警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804868" y="4506468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23156" y="4524756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数字孪生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23156" y="4735830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仓内全要素映射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8361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4850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113401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07829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04318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1008080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421072" y="5138928"/>
            <a:ext cx="581948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标准指令下发 / 执行状态上报，统一经 WCS 适配对接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4320" y="51846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下游 · 自动化供应商系统（按能力适配接入，可扩展）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9184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WCS1 · 货架到人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1666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9184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PopPick · 全品类订单单行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239213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294077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WCS2 · 料箱到人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566559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294077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RoboShuttle · 高密垂直存储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204106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5897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WCS3 · 料箱到人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3145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5897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闪擎 · 高效拣选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68999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23863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WCS4 · 托盘到人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6345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223863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上架/下拣 · 高密存储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133892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188756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WCS5 · 语音拣选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61238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188756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语音终端 · 免视觉拣选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098785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5365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 N · 分拣机器人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42613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15365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柔性分拣 · 可横向扩展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7432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输送机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3776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3776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外形检测机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0121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40121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缠膜机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464661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464661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堆垛机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28108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528108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四向车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591556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591556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AGV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655003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655003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机器人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71845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71845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工作站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78189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8189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提升机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84534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4534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无人叉车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908792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908792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贴标机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74320" y="6464808"/>
            <a:ext cx="11643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说明：WMS 与自动化供应商系统之间不直连，全部通过 WCS 标准指令集完成上下行交互；自研 WCS 承担调度引擎、指令协议与能力适配的核心职责，供应商系统作为可插拔执行层，按统一适配规范接入、可横向扩展替换。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65760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09728"/>
            <a:ext cx="96926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62626"/>
                </a:solidFill>
                <a:latin typeface="Microsoft YaHei"/>
              </a:rPr>
              <a:t>WCS 核心架构 · 服务能力分解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48640"/>
            <a:ext cx="1146017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7A7A"/>
                </a:solidFill>
                <a:latin typeface="Microsoft YaHei"/>
              </a:rPr>
              <a:t>wcs-core 承接 WMS 标准指令并统一调度，向下按场景适配 / 厂商对接 / 调度策略下发执行；wcs-dashboard 独立完成运行数据的采集、加工与可视化展示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77824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上游 · WMS / WHC 系统接入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78992"/>
            <a:ext cx="5748375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52144"/>
            <a:ext cx="5748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Flux WMS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09027" y="1389888"/>
            <a:ext cx="3678960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8999" y="1078992"/>
            <a:ext cx="5748375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8999" y="1152144"/>
            <a:ext cx="5748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飞云 WMS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3707" y="1389888"/>
            <a:ext cx="3678960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148507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43187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67236" y="1627631"/>
            <a:ext cx="4657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任务同步：WMS 下发任务，统一进入 WCS 标准指令层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655063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WCS 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874519"/>
            <a:ext cx="11643055" cy="411480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3" y="1993391"/>
            <a:ext cx="7548047" cy="457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自动化设备调度服务</a:t>
            </a:r>
          </a:p>
          <a:p>
            <a:pPr algn="ctr"/>
            <a:r>
              <a:rPr sz="900">
                <a:solidFill>
                  <a:srgbClr val="CFE0F3"/>
                </a:solidFill>
                <a:latin typeface="Microsoft YaHei"/>
              </a:rPr>
              <a:t>wcs-core · 标准指令承接与统一调度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3263" y="1993391"/>
            <a:ext cx="3637807" cy="457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自动化设备可视化看板</a:t>
            </a:r>
          </a:p>
          <a:p>
            <a:pPr algn="ctr"/>
            <a:r>
              <a:rPr sz="900">
                <a:solidFill>
                  <a:srgbClr val="CFE0F3"/>
                </a:solidFill>
                <a:latin typeface="Microsoft YaHei"/>
              </a:rPr>
              <a:t>wcs-dashboard · 运行数据采集与展示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3" y="2542032"/>
            <a:ext cx="4452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Microsoft YaHei"/>
              </a:rPr>
              <a:t>标准指令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3" y="2542032"/>
            <a:ext cx="4452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A7A7A"/>
                </a:solidFill>
                <a:latin typeface="Microsoft YaHei"/>
              </a:rPr>
              <a:t>wcs-instruction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3" y="2743200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商品信息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16822" y="2743200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收货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13020" y="2743200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分拣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3" y="3139043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容器操作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16822" y="3139043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上架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3020" y="3139043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对账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3" y="3534887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波次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16822" y="3534887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盘点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13020" y="3534887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补货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3" y="3930731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拣货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16822" y="3930731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移库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13020" y="3930731"/>
            <a:ext cx="1459622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调整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00658" y="2542032"/>
            <a:ext cx="2968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Microsoft YaHei"/>
              </a:rPr>
              <a:t>指令调度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0658" y="2542032"/>
            <a:ext cx="2968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A7A7A"/>
                </a:solidFill>
                <a:latin typeface="Microsoft YaHei"/>
              </a:rPr>
              <a:t>wcs-schedule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00658" y="2743200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指令编排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2953" y="2743200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优先调度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00658" y="3139043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限流降级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02953" y="3139043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熔断重试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00658" y="3534887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运行监控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02953" y="3534887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运行记录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00658" y="3930731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结果回传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02953" y="3930731"/>
            <a:ext cx="1465718" cy="359267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路由分配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3" y="4381439"/>
            <a:ext cx="29314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Microsoft YaHei"/>
              </a:rPr>
              <a:t>设备场景适配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3" y="4381439"/>
            <a:ext cx="29314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A7A7A"/>
                </a:solidFill>
                <a:latin typeface="Microsoft YaHei"/>
              </a:rPr>
              <a:t>wcs-scenario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0623" y="4582607"/>
            <a:ext cx="1447430" cy="29452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货架到人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904630" y="4582607"/>
            <a:ext cx="1447430" cy="29452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料箱到人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0623" y="4913711"/>
            <a:ext cx="1447430" cy="29452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托盘到人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04630" y="4913711"/>
            <a:ext cx="1447430" cy="29452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分拣机器人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0623" y="5244815"/>
            <a:ext cx="1447430" cy="29452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语音拣选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04630" y="5244815"/>
            <a:ext cx="1447430" cy="29452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打包贴标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0623" y="5575919"/>
            <a:ext cx="2931436" cy="294528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通用设备适配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61788" y="4381439"/>
            <a:ext cx="29314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Microsoft YaHei"/>
              </a:rPr>
              <a:t>设备厂商对接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61788" y="4381439"/>
            <a:ext cx="29314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A7A7A"/>
                </a:solidFill>
                <a:latin typeface="Microsoft YaHei"/>
              </a:rPr>
              <a:t>wcs-integration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61788" y="4582607"/>
            <a:ext cx="1447430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SDK对接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45794" y="4582607"/>
            <a:ext cx="1447430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数据映射适配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61788" y="5024079"/>
            <a:ext cx="1447430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设备管理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45794" y="5024079"/>
            <a:ext cx="1447430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执行日志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61788" y="5465551"/>
            <a:ext cx="2931436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传输协议适配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953" y="4381439"/>
            <a:ext cx="14657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Microsoft YaHei"/>
              </a:rPr>
              <a:t>调度策略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02953" y="4381439"/>
            <a:ext cx="14657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A7A7A"/>
                </a:solidFill>
                <a:latin typeface="Microsoft YaHei"/>
              </a:rPr>
              <a:t>wcs-strategy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02953" y="4582607"/>
            <a:ext cx="1465718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规则配置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02953" y="5024079"/>
            <a:ext cx="1465718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规则策略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02953" y="5465551"/>
            <a:ext cx="1465718" cy="404896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算法策略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3263" y="2542032"/>
            <a:ext cx="17548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Microsoft YaHei"/>
              </a:rPr>
              <a:t>数据采集传输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3263" y="2542032"/>
            <a:ext cx="17548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A7A7A"/>
                </a:solidFill>
                <a:latin typeface="Microsoft YaHei"/>
              </a:rPr>
              <a:t>wcs-acquisition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33263" y="2743200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异步消费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33263" y="3534156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定时采集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33263" y="4325112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数据标准化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133263" y="5116068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投递数据湖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16175" y="2542032"/>
            <a:ext cx="17548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Microsoft YaHei"/>
              </a:rPr>
              <a:t>可视化展示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6175" y="2542032"/>
            <a:ext cx="17548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A7A7A"/>
                </a:solidFill>
                <a:latin typeface="Microsoft YaHei"/>
              </a:rPr>
              <a:t>wcs-visualization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016175" y="2743200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数据展示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016175" y="3534156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数据分析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016175" y="4325112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数据加工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016175" y="5116068"/>
            <a:ext cx="1754895" cy="754380"/>
          </a:xfrm>
          <a:prstGeom prst="roundRect">
            <a:avLst>
              <a:gd name="adj" fmla="val 10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00" b="1">
                <a:solidFill>
                  <a:srgbClr val="262626"/>
                </a:solidFill>
                <a:latin typeface="Microsoft YaHei"/>
              </a:rPr>
              <a:t>数据源管理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194647" y="6016752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952167" y="6016752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3767236" y="6007608"/>
            <a:ext cx="4657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执行指令下发 / 运行状态同步，经 WCS 与设备执行层衔接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4320" y="603504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下游 · 自动化设备执行层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74320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输送机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337767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37767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外形检测机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401214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01214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缠膜机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64661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64661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堆垛机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528108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28108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四向车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591556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591556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AGV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655003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55003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机器人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718450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18450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工作站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781897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81897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提升机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845344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45344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无人叉车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908792" y="6254496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908792" y="6254496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贴标机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6565392"/>
            <a:ext cx="11643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说明：wcs-core 以标准指令承接上行 WMS 指令并统一调度，按场景适配 / 厂商对接 / 调度策略下发执行；wcs-dashboard 独立采集、加工并展示运行数据，经 WCS 与设备执行层完成上下行衔接。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